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86" r:id="rId5"/>
    <p:sldId id="261" r:id="rId6"/>
    <p:sldId id="285" r:id="rId7"/>
    <p:sldId id="288" r:id="rId8"/>
    <p:sldId id="263" r:id="rId9"/>
    <p:sldId id="265" r:id="rId10"/>
    <p:sldId id="28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567A"/>
    <a:srgbClr val="0D1D51"/>
    <a:srgbClr val="0072C7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887" autoAdjust="0"/>
  </p:normalViewPr>
  <p:slideViewPr>
    <p:cSldViewPr snapToGrid="0" showGuides="1">
      <p:cViewPr>
        <p:scale>
          <a:sx n="75" d="100"/>
          <a:sy n="75" d="100"/>
        </p:scale>
        <p:origin x="1872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1560" y="-14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243D74-B9C1-450A-B0F3-6C6DCB0CF2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C27C33-9BB1-41D5-A236-12767E7E72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B3EA8-A58D-4C92-A3AB-D271CCC294C7}" type="datetimeFigureOut">
              <a:rPr lang="en-US" smtClean="0"/>
              <a:t>10/10/2026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A7EADB-04A4-4093-B238-438E2C7317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D8696-706D-440E-AE04-4C644F0613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A5DE8-F2C4-4DB3-88D1-656DCD59E7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8243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FB4FA-E877-413E-B608-88789D806C57}" type="datetimeFigureOut">
              <a:rPr lang="en-US" noProof="0" smtClean="0"/>
              <a:t>10/10/2026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36304E-FDE3-4B4F-A3B7-EBE87F3FA5E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11843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D93970-B13A-F96D-A4B1-3A1EE74841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0"/>
            <a:ext cx="1220237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10954512" cy="3246120"/>
          </a:xfrm>
        </p:spPr>
        <p:txBody>
          <a:bodyPr anchor="b">
            <a:noAutofit/>
          </a:bodyPr>
          <a:lstStyle>
            <a:lvl1pPr algn="ctr">
              <a:defRPr sz="6600" b="1" i="0" cap="none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758183"/>
            <a:ext cx="10954512" cy="1307592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850392"/>
            <a:ext cx="3913632" cy="4800600"/>
          </a:xfrm>
        </p:spPr>
        <p:txBody>
          <a:bodyPr/>
          <a:lstStyle>
            <a:lvl1pPr>
              <a:defRPr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965960"/>
            <a:ext cx="4050792" cy="2953512"/>
          </a:xfrm>
        </p:spPr>
        <p:txBody>
          <a:bodyPr anchor="ctr" anchorCtr="0"/>
          <a:lstStyle>
            <a:lvl1pPr>
              <a:defRPr cap="all" baseline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06EB944-76A9-6F98-104E-59CD34F5CF9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7">
            <a:extLst>
              <a:ext uri="{FF2B5EF4-FFF2-40B4-BE49-F238E27FC236}">
                <a16:creationId xmlns:a16="http://schemas.microsoft.com/office/drawing/2014/main" id="{898C8E3F-6992-0D8A-CCA1-3DD2C147AA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4756"/>
          <a:stretch/>
        </p:blipFill>
        <p:spPr>
          <a:xfrm>
            <a:off x="8853067" y="1"/>
            <a:ext cx="1875091" cy="1605320"/>
          </a:xfrm>
          <a:prstGeom prst="rect">
            <a:avLst/>
          </a:prstGeom>
        </p:spPr>
      </p:pic>
      <p:pic>
        <p:nvPicPr>
          <p:cNvPr id="13" name="Picture 7">
            <a:extLst>
              <a:ext uri="{FF2B5EF4-FFF2-40B4-BE49-F238E27FC236}">
                <a16:creationId xmlns:a16="http://schemas.microsoft.com/office/drawing/2014/main" id="{4417AC45-4CB7-72E8-3723-B1A3D81FB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13775" y="5533690"/>
            <a:ext cx="493392" cy="4955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E5941EF-B160-313A-DA99-73C86EDC4C1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794"/>
          <a:stretch/>
        </p:blipFill>
        <p:spPr>
          <a:xfrm>
            <a:off x="10316909" y="2723673"/>
            <a:ext cx="1875091" cy="360098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EEC16221-5852-F1A3-24D1-8EF5E907173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1791"/>
          <a:stretch/>
        </p:blipFill>
        <p:spPr>
          <a:xfrm>
            <a:off x="3497179" y="6324654"/>
            <a:ext cx="910220" cy="541368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5D8B34C3-E35E-0B4E-1F8E-59C449A3C8D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1904"/>
          <a:stretch/>
        </p:blipFill>
        <p:spPr>
          <a:xfrm>
            <a:off x="1601212" y="0"/>
            <a:ext cx="1032928" cy="71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85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1FEFCE-5DDA-D353-F1BF-36752F5F07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2917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824" y="1325880"/>
            <a:ext cx="10460736" cy="2286000"/>
          </a:xfrm>
        </p:spPr>
        <p:txBody>
          <a:bodyPr anchor="b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7824" y="3749040"/>
            <a:ext cx="10460736" cy="2286000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027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B6718ABD-4EA5-E3C5-0225-F6671DCA53AD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21A955-CA2D-A65D-6E60-DAAAA4ACFA3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1050"/>
          <a:stretch/>
        </p:blipFill>
        <p:spPr>
          <a:xfrm>
            <a:off x="0" y="2887579"/>
            <a:ext cx="2432421" cy="36046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AB70155A-604C-AD00-BE69-4505C75CE01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874" b="-1"/>
          <a:stretch/>
        </p:blipFill>
        <p:spPr>
          <a:xfrm rot="5400000">
            <a:off x="11281284" y="2493882"/>
            <a:ext cx="1032928" cy="887899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74D1084-EF5E-D016-13E0-1840BDFFD0A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-880"/>
          <a:stretch/>
        </p:blipFill>
        <p:spPr>
          <a:xfrm>
            <a:off x="9897978" y="5987153"/>
            <a:ext cx="490012" cy="5050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313432"/>
            <a:ext cx="6327648" cy="3218688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032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1B9A11-4222-BB4A-66D3-D37C79AC5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r="21" b="21"/>
          <a:stretch/>
        </p:blipFill>
        <p:spPr>
          <a:xfrm>
            <a:off x="-2595" y="1459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27432"/>
            <a:ext cx="7004304" cy="3566160"/>
          </a:xfrm>
        </p:spPr>
        <p:txBody>
          <a:bodyPr anchor="b">
            <a:noAutofit/>
          </a:bodyPr>
          <a:lstStyle>
            <a:lvl1pPr algn="ctr">
              <a:defRPr sz="60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5" y="3767328"/>
            <a:ext cx="7004303" cy="1161288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29623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72C86F9-080E-93F7-C7B1-F5BEAD84E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5064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432304"/>
            <a:ext cx="3108960" cy="3412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36592" y="1920240"/>
            <a:ext cx="6620256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FF98F94-8801-13BE-8EB4-01921AC196C8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BF5718-9534-FD92-79D7-ECC66603E70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62387"/>
          <a:stretch/>
        </p:blipFill>
        <p:spPr>
          <a:xfrm rot="5400000">
            <a:off x="1778676" y="5204330"/>
            <a:ext cx="907513" cy="24653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FF40650-9AD0-96F8-F702-185D1729AF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558" y="5429608"/>
            <a:ext cx="406214" cy="415066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3AC8518-2F0B-6FC0-0C0E-6CE9D00EAC7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4860" b="-1"/>
          <a:stretch/>
        </p:blipFill>
        <p:spPr>
          <a:xfrm>
            <a:off x="10214191" y="365126"/>
            <a:ext cx="1032928" cy="1106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360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3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7B4AF60-AC65-3E7A-4A5D-EBF1A7030D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063" b="3063"/>
          <a:stretch/>
        </p:blipFill>
        <p:spPr>
          <a:xfrm>
            <a:off x="1" y="2917"/>
            <a:ext cx="12197189" cy="6855082"/>
          </a:xfrm>
          <a:prstGeom prst="rect">
            <a:avLst/>
          </a:prstGeom>
        </p:spPr>
      </p:pic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95671103-2960-81E2-9A76-0E7FDE6B3E55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276856"/>
            <a:ext cx="6327648" cy="3090672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64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86060D16-E6F6-EA0E-E58E-526234AB656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0958AA-6F1A-C4A2-FB66-1A6F7F8834B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095" b="-1"/>
          <a:stretch/>
        </p:blipFill>
        <p:spPr>
          <a:xfrm>
            <a:off x="569419" y="4426479"/>
            <a:ext cx="1472805" cy="159661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EADFA2-398E-9388-8295-063D31FB38E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095" b="-1"/>
          <a:stretch/>
        </p:blipFill>
        <p:spPr>
          <a:xfrm rot="3765410" flipV="1">
            <a:off x="1448505" y="4094575"/>
            <a:ext cx="862484" cy="934988"/>
          </a:xfrm>
          <a:prstGeom prst="rect">
            <a:avLst/>
          </a:prstGeom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D09A7588-8EFD-A0C5-4235-45B7D657ECF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5453"/>
          <a:stretch/>
        </p:blipFill>
        <p:spPr>
          <a:xfrm>
            <a:off x="9469547" y="5719093"/>
            <a:ext cx="1756858" cy="1138907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F04D7D6-513C-D18A-AF21-D10F0E5D3B8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1" r="-750"/>
          <a:stretch/>
        </p:blipFill>
        <p:spPr>
          <a:xfrm>
            <a:off x="8844546" y="50582"/>
            <a:ext cx="1307037" cy="1325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671816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728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0CE72F6-1D9D-E61E-F1EE-2861FDF7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0432" y="2459736"/>
            <a:ext cx="2843784" cy="309067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33672" y="2523744"/>
            <a:ext cx="6693408" cy="327355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947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07008" y="2523744"/>
            <a:ext cx="9720072" cy="325526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480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A51A8B-A15C-2A94-1E48-F9615101DF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8991" t="11245" r="3785" b="1531"/>
          <a:stretch/>
        </p:blipFill>
        <p:spPr>
          <a:xfrm>
            <a:off x="0" y="2917"/>
            <a:ext cx="12197192" cy="68550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00200"/>
            <a:ext cx="10991088" cy="3657600"/>
          </a:xfrm>
        </p:spPr>
        <p:txBody>
          <a:bodyPr anchor="ctr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9492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4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5697808D-10E0-D8A5-5D07-E176EBB8F2BB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7">
            <a:extLst>
              <a:ext uri="{FF2B5EF4-FFF2-40B4-BE49-F238E27FC236}">
                <a16:creationId xmlns:a16="http://schemas.microsoft.com/office/drawing/2014/main" id="{0234D012-F86E-04CE-78C8-2C5A6613028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1004" r="-148"/>
          <a:stretch/>
        </p:blipFill>
        <p:spPr>
          <a:xfrm rot="5400000">
            <a:off x="6378170" y="40082"/>
            <a:ext cx="1579705" cy="1600089"/>
          </a:xfrm>
          <a:prstGeom prst="rect">
            <a:avLst/>
          </a:prstGeom>
        </p:spPr>
      </p:pic>
      <p:pic>
        <p:nvPicPr>
          <p:cNvPr id="15" name="Picture 7">
            <a:extLst>
              <a:ext uri="{FF2B5EF4-FFF2-40B4-BE49-F238E27FC236}">
                <a16:creationId xmlns:a16="http://schemas.microsoft.com/office/drawing/2014/main" id="{0BC42061-F838-920E-632E-10EDE7E5539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239" r="25335" b="-1"/>
          <a:stretch/>
        </p:blipFill>
        <p:spPr>
          <a:xfrm rot="16200000">
            <a:off x="6298833" y="-161472"/>
            <a:ext cx="752715" cy="1075657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8BEE67F-530E-E41D-FD19-2615180DC3F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931"/>
          <a:stretch/>
        </p:blipFill>
        <p:spPr>
          <a:xfrm>
            <a:off x="10439102" y="4145165"/>
            <a:ext cx="1780703" cy="216431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82CFCA46-5F5A-867F-B19C-4F9ED5BA15A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6794"/>
          <a:stretch/>
        </p:blipFill>
        <p:spPr>
          <a:xfrm rot="10800000">
            <a:off x="-27806" y="2452933"/>
            <a:ext cx="1370742" cy="2632414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11E8F80C-ACB2-552E-4433-1A8A2708F18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" b="-9728"/>
          <a:stretch/>
        </p:blipFill>
        <p:spPr>
          <a:xfrm rot="18286209">
            <a:off x="887827" y="4958926"/>
            <a:ext cx="910220" cy="1020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293608" y="2441447"/>
            <a:ext cx="3063240" cy="3575303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50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ACFCA6-7ECE-9BFB-9389-6DB74C8628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1" r="21"/>
          <a:stretch/>
        </p:blipFill>
        <p:spPr>
          <a:xfrm>
            <a:off x="-5192" y="-1"/>
            <a:ext cx="12197192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2743200"/>
          </a:xfrm>
        </p:spPr>
        <p:txBody>
          <a:bodyPr anchor="b">
            <a:noAutofit/>
          </a:bodyPr>
          <a:lstStyle>
            <a:lvl1pPr algn="l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5304" y="3110546"/>
            <a:ext cx="4114800" cy="2743200"/>
          </a:xfrm>
        </p:spPr>
        <p:txBody>
          <a:bodyPr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083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noProof="0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63001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5912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71654-96A5-4280-94F3-931C61A9F92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accent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b="0" i="0" kern="1200">
          <a:solidFill>
            <a:schemeClr val="accent2">
              <a:lumMod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horizon-aiops.vercel.app/" TargetMode="External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hyperlink" Target="https://github.com/Precise-Goals/horizon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728576E-DD1C-E510-A0F6-BACF7A6DD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88352"/>
            <a:ext cx="10954512" cy="1427080"/>
          </a:xfrm>
        </p:spPr>
        <p:txBody>
          <a:bodyPr anchor="b"/>
          <a:lstStyle/>
          <a:p>
            <a:r>
              <a:rPr lang="en-US" sz="9600" dirty="0"/>
              <a:t>HORIZON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E62D732-63E2-D521-B354-F50446710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7296" y="2985361"/>
            <a:ext cx="8245216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IN" sz="2000" b="1" dirty="0"/>
              <a:t>Sovereign Autonomous Enterprise Infrastructure Recovery Platform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91DC877C-AD0D-2688-ECA4-369B0A979D9E}"/>
              </a:ext>
            </a:extLst>
          </p:cNvPr>
          <p:cNvSpPr txBox="1">
            <a:spLocks/>
          </p:cNvSpPr>
          <p:nvPr/>
        </p:nvSpPr>
        <p:spPr>
          <a:xfrm>
            <a:off x="1967296" y="4112439"/>
            <a:ext cx="8245216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i="0" kern="1200" cap="all" baseline="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Presented by </a:t>
            </a:r>
            <a:r>
              <a:rPr lang="en-IN" sz="1600" b="1" dirty="0" err="1"/>
              <a:t>Falconizers</a:t>
            </a:r>
            <a:r>
              <a:rPr lang="en-IN" sz="1600" b="1" dirty="0"/>
              <a:t> - 1048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78D2BFB-B902-7A40-D6A8-972401668380}"/>
              </a:ext>
            </a:extLst>
          </p:cNvPr>
          <p:cNvSpPr txBox="1">
            <a:spLocks/>
          </p:cNvSpPr>
          <p:nvPr/>
        </p:nvSpPr>
        <p:spPr>
          <a:xfrm>
            <a:off x="1979488" y="3639157"/>
            <a:ext cx="8245216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i="0" kern="1200" cap="all" baseline="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dirty="0"/>
              <a:t>Think PagerDuty plus an autopilot, built in India, with proof of every action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118503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3788" y="1472157"/>
            <a:ext cx="4962212" cy="5090844"/>
          </a:xfrm>
          <a:noFill/>
        </p:spPr>
        <p:txBody>
          <a:bodyPr>
            <a:noAutofit/>
          </a:bodyPr>
          <a:lstStyle/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Problem:</a:t>
            </a:r>
            <a:r>
              <a:rPr lang="en-IN" sz="1800" dirty="0"/>
              <a:t> Distributed systems fail in chains, while manual recovery and incorrect restart sequences extend costly downtime.</a:t>
            </a:r>
          </a:p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Idea:</a:t>
            </a:r>
            <a:r>
              <a:rPr lang="en-IN" sz="1800" dirty="0"/>
              <a:t> Detect failures, map dependencies, and autonomously restore services in the mathematically correct order.</a:t>
            </a:r>
          </a:p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USP:</a:t>
            </a:r>
            <a:r>
              <a:rPr lang="en-IN" sz="1800" dirty="0"/>
              <a:t> Combines graph-based recovery, human approval for high-risk actions, and blockchain-backed proof of every action.</a:t>
            </a:r>
          </a:p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Innovation:</a:t>
            </a:r>
            <a:r>
              <a:rPr lang="en-IN" sz="1800" dirty="0"/>
              <a:t> Deterministic recovery algorithms, multilingual AI assistance, and tamper-evident audit trails in one platform.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7B9109-9E17-1A7A-3A9A-0F1C07BF3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z="1100" smtClean="0"/>
              <a:pPr/>
              <a:t>2</a:t>
            </a:fld>
            <a:endParaRPr lang="en-US" sz="1100" dirty="0"/>
          </a:p>
        </p:txBody>
      </p:sp>
      <p:pic>
        <p:nvPicPr>
          <p:cNvPr id="6" name="Picture 5" descr="Server room crash takes down Bloomberg terminals - DCD">
            <a:extLst>
              <a:ext uri="{FF2B5EF4-FFF2-40B4-BE49-F238E27FC236}">
                <a16:creationId xmlns:a16="http://schemas.microsoft.com/office/drawing/2014/main" id="{1B63EC9C-48F2-33AE-55D6-9230607E1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062" y="2845942"/>
            <a:ext cx="4285067" cy="31284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CCB4B1-F8B1-F5C5-FE8D-E174608A3C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713" t="23200" r="17872" b="23200"/>
          <a:stretch>
            <a:fillRect/>
          </a:stretch>
        </p:blipFill>
        <p:spPr>
          <a:xfrm>
            <a:off x="6548062" y="883578"/>
            <a:ext cx="4242484" cy="17265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B9E169-9469-6666-4F69-3A5404E40177}"/>
              </a:ext>
            </a:extLst>
          </p:cNvPr>
          <p:cNvSpPr txBox="1">
            <a:spLocks/>
          </p:cNvSpPr>
          <p:nvPr/>
        </p:nvSpPr>
        <p:spPr>
          <a:xfrm>
            <a:off x="1019056" y="1558748"/>
            <a:ext cx="3111154" cy="376246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5400" b="1" dirty="0"/>
              <a:t>Overview</a:t>
            </a:r>
            <a:endParaRPr lang="en-IN" sz="5400" b="1" dirty="0"/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692695A-8814-7C3C-8ACF-582DBC88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4" t="1648" r="23064" b="4719"/>
          <a:stretch>
            <a:fillRect/>
          </a:stretch>
        </p:blipFill>
        <p:spPr>
          <a:xfrm>
            <a:off x="6822040" y="269467"/>
            <a:ext cx="4732960" cy="61456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85DE015-F6FB-92BE-12EC-C9A46CF70F8D}"/>
              </a:ext>
            </a:extLst>
          </p:cNvPr>
          <p:cNvSpPr/>
          <p:nvPr/>
        </p:nvSpPr>
        <p:spPr>
          <a:xfrm>
            <a:off x="637000" y="1114507"/>
            <a:ext cx="5836372" cy="53005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Maintains live service DAGs in </a:t>
            </a:r>
            <a:r>
              <a:rPr lang="en-IN" b="1" dirty="0" err="1"/>
              <a:t>ClusterStateManager</a:t>
            </a:r>
            <a:r>
              <a:rPr lang="en-IN" b="1" dirty="0"/>
              <a:t> and confirms outages using a 3-consecutive-miss probe to eliminate flapping.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Traverses reverse dependency edges via </a:t>
            </a:r>
            <a:r>
              <a:rPr lang="en-IN" b="1" dirty="0" err="1"/>
              <a:t>computeBlastRadius</a:t>
            </a:r>
            <a:r>
              <a:rPr lang="en-IN" b="1" dirty="0"/>
              <a:t> in O(V + E) time to isolate the exact downstream cascade before acting.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Derives bottom-up recovery order via </a:t>
            </a:r>
            <a:r>
              <a:rPr lang="en-IN" b="1" dirty="0" err="1"/>
              <a:t>getTopologicalOrder</a:t>
            </a:r>
            <a:r>
              <a:rPr lang="en-IN" b="1" dirty="0"/>
              <a:t> (Databases → Caches → APIs) to eliminate thundering-herd crash loops.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Runs low-risk heals automatically while pausing hazardous mutations for signed wallet approvals via </a:t>
            </a:r>
            <a:r>
              <a:rPr lang="en-IN" b="1" dirty="0" err="1"/>
              <a:t>mstBlockchain</a:t>
            </a:r>
            <a:r>
              <a:rPr lang="en-IN" b="1" dirty="0"/>
              <a:t>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 Verifies node health in Pipeline Deployer before unlocking dependants and anchors SHA-256 Merkle proofs to </a:t>
            </a:r>
            <a:r>
              <a:rPr lang="en-IN" b="1" dirty="0" err="1"/>
              <a:t>HorizonAuditVault</a:t>
            </a:r>
            <a:r>
              <a:rPr lang="en-IN" b="1" dirty="0"/>
              <a:t>.</a:t>
            </a:r>
            <a:endParaRPr lang="en-IN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FD34C7-1D9F-02EF-A198-033949D234CD}"/>
              </a:ext>
            </a:extLst>
          </p:cNvPr>
          <p:cNvSpPr/>
          <p:nvPr/>
        </p:nvSpPr>
        <p:spPr>
          <a:xfrm>
            <a:off x="637000" y="269467"/>
            <a:ext cx="6380208" cy="84504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</a:pPr>
            <a:r>
              <a:rPr lang="en-US" sz="4400" b="1" dirty="0">
                <a:solidFill>
                  <a:schemeClr val="accent2">
                    <a:lumMod val="25000"/>
                  </a:schemeClr>
                </a:solidFill>
              </a:rPr>
              <a:t>Technical Approach</a:t>
            </a:r>
          </a:p>
        </p:txBody>
      </p:sp>
    </p:spTree>
    <p:extLst>
      <p:ext uri="{BB962C8B-B14F-4D97-AF65-F5344CB8AC3E}">
        <p14:creationId xmlns:p14="http://schemas.microsoft.com/office/powerpoint/2010/main" val="1371737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AC59F-48D0-EE53-5129-884DEDEC5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3FD2C-329F-08A9-FD38-3F7B9642D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1275" y="-569192"/>
            <a:ext cx="10277856" cy="1655064"/>
          </a:xfrm>
          <a:noFill/>
        </p:spPr>
        <p:txBody>
          <a:bodyPr>
            <a:noAutofit/>
          </a:bodyPr>
          <a:lstStyle/>
          <a:p>
            <a:pPr algn="ctr"/>
            <a:r>
              <a:rPr lang="en-US" dirty="0"/>
              <a:t>Working Deployed Prototype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AC25B27-704B-0AF1-7848-3BBF71973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23E32F-D493-4480-479F-16CFE66DB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88" y="1752310"/>
            <a:ext cx="4080491" cy="24894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A686D4-70BA-559E-7A3E-979A2D739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88" y="4241800"/>
            <a:ext cx="5236813" cy="191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D19978-A8A7-4294-63C6-CA54811AC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199" y="4241800"/>
            <a:ext cx="3608879" cy="19302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C04868E-0803-6170-51C6-F08C782DE4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9734" y="1731113"/>
            <a:ext cx="3274036" cy="16550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6361397-3B90-7969-1459-6DC2C2E756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6921" y="1731113"/>
            <a:ext cx="3608879" cy="25123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704F442-F425-8787-D2E1-1BF777474A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4714" y="3063989"/>
            <a:ext cx="3250143" cy="31407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E962D2-023A-787C-85D8-281036FB0487}"/>
              </a:ext>
            </a:extLst>
          </p:cNvPr>
          <p:cNvSpPr txBox="1"/>
          <p:nvPr/>
        </p:nvSpPr>
        <p:spPr>
          <a:xfrm>
            <a:off x="3940672" y="1068687"/>
            <a:ext cx="42990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Deployed Link: </a:t>
            </a:r>
            <a:r>
              <a:rPr lang="en-US" b="1" dirty="0">
                <a:hlinkClick r:id="rId8"/>
              </a:rPr>
              <a:t>horizon-</a:t>
            </a:r>
            <a:r>
              <a:rPr lang="en-US" b="1" dirty="0" err="1">
                <a:hlinkClick r:id="rId8"/>
              </a:rPr>
              <a:t>aiops.vercel.app</a:t>
            </a:r>
            <a:endParaRPr lang="en-US" b="1" dirty="0"/>
          </a:p>
          <a:p>
            <a:pPr algn="ctr"/>
            <a:r>
              <a:rPr lang="en-US" dirty="0" err="1"/>
              <a:t>Github</a:t>
            </a:r>
            <a:r>
              <a:rPr lang="en-US" dirty="0"/>
              <a:t> Repo</a:t>
            </a:r>
            <a:r>
              <a:rPr lang="en-US" b="1" dirty="0"/>
              <a:t>: </a:t>
            </a:r>
            <a:r>
              <a:rPr lang="en-US" b="1" dirty="0">
                <a:hlinkClick r:id="rId9"/>
              </a:rPr>
              <a:t>Horizon Repository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016999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E39E6080-E7F0-678F-65B9-B64B99BDF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5BD5DF-7534-6CA6-7579-174613B15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772" y="655127"/>
            <a:ext cx="10506456" cy="743563"/>
          </a:xfrm>
        </p:spPr>
        <p:txBody>
          <a:bodyPr/>
          <a:lstStyle/>
          <a:p>
            <a:pPr algn="ctr"/>
            <a:r>
              <a:rPr lang="en-US" dirty="0"/>
              <a:t>Feasibility and Viability</a:t>
            </a:r>
            <a:endParaRPr lang="en-IN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2C4CAF5-23D9-AF94-5584-9E9710DA5B80}"/>
              </a:ext>
            </a:extLst>
          </p:cNvPr>
          <p:cNvSpPr/>
          <p:nvPr/>
        </p:nvSpPr>
        <p:spPr>
          <a:xfrm>
            <a:off x="779272" y="1578280"/>
            <a:ext cx="4986529" cy="48051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O(V + E) Scalability: Computes 1,000+ node recovery in &lt; 3 </a:t>
            </a:r>
            <a:r>
              <a:rPr lang="en-IN" dirty="0" err="1"/>
              <a:t>ms</a:t>
            </a:r>
            <a:r>
              <a:rPr lang="en-IN" dirty="0"/>
              <a:t> via </a:t>
            </a:r>
            <a:r>
              <a:rPr lang="en-IN" dirty="0" err="1"/>
              <a:t>DependencyGraph</a:t>
            </a:r>
            <a:r>
              <a:rPr lang="en-IN" dirty="0"/>
              <a:t> without heavy compute.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Deterministic Core: Executes recovery via pure TypeScript in </a:t>
            </a:r>
            <a:r>
              <a:rPr lang="en-IN" dirty="0" err="1"/>
              <a:t>PipelineDeployer</a:t>
            </a:r>
            <a:r>
              <a:rPr lang="en-IN" dirty="0"/>
              <a:t>, isolated from LLM hallucinations.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Native Connectors: Plugs directly into Docker via </a:t>
            </a:r>
            <a:r>
              <a:rPr lang="en-IN" dirty="0" err="1"/>
              <a:t>dockerBridge</a:t>
            </a:r>
            <a:r>
              <a:rPr lang="en-IN" dirty="0"/>
              <a:t>, Kubernetes, and standard MCP IDE tools. Cycle &amp; Flap Resilient: Built-in DFS cycle detection stops deadlocks, while sliding-window probes prevent flapping.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Low-Cost Web3: Hardware-backed EIP-712 wallet gates in </a:t>
            </a:r>
            <a:r>
              <a:rPr lang="en-IN" dirty="0" err="1"/>
              <a:t>mstBlockchain</a:t>
            </a:r>
            <a:r>
              <a:rPr lang="en-IN" dirty="0"/>
              <a:t> anchor on-chain for &lt; ₹0.10 gas.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657DC04-EC03-C962-09AB-DECCB026E78F}"/>
              </a:ext>
            </a:extLst>
          </p:cNvPr>
          <p:cNvSpPr/>
          <p:nvPr/>
        </p:nvSpPr>
        <p:spPr>
          <a:xfrm>
            <a:off x="5892801" y="1578280"/>
            <a:ext cx="5312155" cy="480513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High ROI: Slashes $50k/min downtime losses by cutting MTTR from 45 mins to &lt; 2 minutes.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Regulatory Driver: Automates India's mandatory 6-hour CERT-In reporting via on-chain </a:t>
            </a:r>
            <a:r>
              <a:rPr lang="en-IN" dirty="0" err="1"/>
              <a:t>HorizonAuditVault</a:t>
            </a:r>
            <a:r>
              <a:rPr lang="en-IN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80%+ Gross Margins: High-margin SaaS model with &lt; ₹12 marginal compute and gas cost per recovery.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PLG Flywheel: Developers adopt @horizon/mcp-server inside Cursor and Claude for organic bottom-up sales.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Sovereign Advantage: INR pricing removes USD forex volatility, with 100% Indian data residency for BFSI.</a:t>
            </a:r>
          </a:p>
        </p:txBody>
      </p:sp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-116840"/>
            <a:ext cx="10277856" cy="1655064"/>
          </a:xfrm>
          <a:noFill/>
        </p:spPr>
        <p:txBody>
          <a:bodyPr>
            <a:noAutofit/>
          </a:bodyPr>
          <a:lstStyle/>
          <a:p>
            <a:r>
              <a:rPr lang="en-US" dirty="0"/>
              <a:t>Marketing strategies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3736AF-0027-E734-82A8-010D7129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3C3480-9CCF-09F1-93C2-F8C09F457C5F}"/>
              </a:ext>
            </a:extLst>
          </p:cNvPr>
          <p:cNvSpPr/>
          <p:nvPr/>
        </p:nvSpPr>
        <p:spPr>
          <a:xfrm>
            <a:off x="1078992" y="1538224"/>
            <a:ext cx="4242308" cy="49540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Datadog / Dynatrace: Only alerts on issues; Horizon actuates automated recovery.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PagerDuty / </a:t>
            </a:r>
            <a:r>
              <a:rPr lang="en-US" dirty="0" err="1"/>
              <a:t>Rootly</a:t>
            </a:r>
            <a:r>
              <a:rPr lang="en-US" dirty="0"/>
              <a:t>: Pages on-call humans; Horizon resolves incidents autonomously.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 err="1"/>
              <a:t>StackStorm</a:t>
            </a:r>
            <a:r>
              <a:rPr lang="en-US" dirty="0"/>
              <a:t> / </a:t>
            </a:r>
            <a:r>
              <a:rPr lang="en-US" dirty="0" err="1"/>
              <a:t>Rundeck</a:t>
            </a:r>
            <a:r>
              <a:rPr lang="en-US" dirty="0"/>
              <a:t>: Runs static scripts; Horizon derives dynamic DAG plans.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Generic LLM Agents: Hallucinates commands; Horizon enforces deterministic math.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Patent US12556441B1: Static mapping; Horizon re-plans on health probe failures.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ADD5FB-8FB9-0B7F-AA3F-24B6635E6D5D}"/>
              </a:ext>
            </a:extLst>
          </p:cNvPr>
          <p:cNvSpPr/>
          <p:nvPr/>
        </p:nvSpPr>
        <p:spPr>
          <a:xfrm>
            <a:off x="5536692" y="1538224"/>
            <a:ext cx="6236208" cy="49540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Core Value: Slashes MTTR by 95%, eliminates out-of-order crash loops, and guarantees tamper-proof audit trails.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Target Market: Indian cloud scale-ups, regulated FinTech/Neobanks (CERT-In 6h compliance), and HealthTech.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Revenue Model: Predictable INR SaaS subscriptions (₹0 to ₹24,999/</a:t>
            </a:r>
            <a:r>
              <a:rPr lang="en-US" dirty="0" err="1"/>
              <a:t>mo</a:t>
            </a:r>
            <a:r>
              <a:rPr lang="en-US" dirty="0"/>
              <a:t>) + high-ticket Enterprise annual contracts.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Unit Economics: 82% gross margins with &lt; ₹12 marginal serverless and blockchain cost per recovered incident.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F66498F-5EDD-796F-76C4-29134F08D025}"/>
              </a:ext>
            </a:extLst>
          </p:cNvPr>
          <p:cNvSpPr txBox="1">
            <a:spLocks/>
          </p:cNvSpPr>
          <p:nvPr/>
        </p:nvSpPr>
        <p:spPr>
          <a:xfrm>
            <a:off x="5752592" y="1165860"/>
            <a:ext cx="10277856" cy="1655064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accent2">
                    <a:lumMod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Business Model Canvas</a:t>
            </a:r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A0D7AA-8A21-B977-56ED-94406F299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2743200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0A6B8-78EB-52CA-3D46-A46FC880D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33856" y="2799650"/>
            <a:ext cx="4009644" cy="2838196"/>
          </a:xfrm>
          <a:noFill/>
        </p:spPr>
        <p:txBody>
          <a:bodyPr vert="horz" lIns="91440" tIns="45720" rIns="91440" bIns="45720" rtlCol="0" anchor="t" anchorCtr="0">
            <a:normAutofit fontScale="92500" lnSpcReduction="20000"/>
          </a:bodyPr>
          <a:lstStyle/>
          <a:p>
            <a:r>
              <a:rPr lang="en-US" noProof="0" dirty="0"/>
              <a:t>Presented by </a:t>
            </a:r>
          </a:p>
          <a:p>
            <a:r>
              <a:rPr lang="en-US" b="1" noProof="0" dirty="0" err="1"/>
              <a:t>Falconizers</a:t>
            </a:r>
            <a:r>
              <a:rPr lang="en-US" b="1" noProof="0" dirty="0"/>
              <a:t> – 1048</a:t>
            </a:r>
            <a:r>
              <a:rPr lang="en-US" noProof="0" dirty="0"/>
              <a:t>	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noProof="0" dirty="0"/>
              <a:t>Sarthak </a:t>
            </a:r>
            <a:r>
              <a:rPr lang="en-US" noProof="0" dirty="0" err="1"/>
              <a:t>patil</a:t>
            </a:r>
            <a:endParaRPr lang="en-US" noProof="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noProof="0" dirty="0"/>
              <a:t>Karan </a:t>
            </a:r>
            <a:r>
              <a:rPr lang="en-US" noProof="0" dirty="0" err="1"/>
              <a:t>verma</a:t>
            </a:r>
            <a:endParaRPr lang="en-US" noProof="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noProof="0" dirty="0"/>
              <a:t>Sneha Patidar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noProof="0" dirty="0"/>
              <a:t>Sneha </a:t>
            </a:r>
            <a:r>
              <a:rPr lang="en-US" noProof="0" dirty="0" err="1"/>
              <a:t>sharma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5161665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Blue spheres">
      <a:dk1>
        <a:srgbClr val="000000"/>
      </a:dk1>
      <a:lt1>
        <a:srgbClr val="FFFFFF"/>
      </a:lt1>
      <a:dk2>
        <a:srgbClr val="E3E7ED"/>
      </a:dk2>
      <a:lt2>
        <a:srgbClr val="E8E8E8"/>
      </a:lt2>
      <a:accent1>
        <a:srgbClr val="7673F7"/>
      </a:accent1>
      <a:accent2>
        <a:srgbClr val="B8C2FD"/>
      </a:accent2>
      <a:accent3>
        <a:srgbClr val="DFE3FC"/>
      </a:accent3>
      <a:accent4>
        <a:srgbClr val="55B3FD"/>
      </a:accent4>
      <a:accent5>
        <a:srgbClr val="99F7F7"/>
      </a:accent5>
      <a:accent6>
        <a:srgbClr val="FEE43F"/>
      </a:accent6>
      <a:hlink>
        <a:srgbClr val="467886"/>
      </a:hlink>
      <a:folHlink>
        <a:srgbClr val="96607D"/>
      </a:folHlink>
    </a:clrScheme>
    <a:fontScheme name="Custom 23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4076243_win32_CP_V3" id="{81AB0711-29F9-49D0-8A73-16AF25FD4C08}" vid="{D5AD44AB-53B9-4654-A4F8-1821A28F27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07E3D-60A7-4F4E-8208-D9CCD01982C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A9B47F-3DD8-4645-81DC-B88780643C07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71af3243-3dd4-4a8d-8c0d-dd76da1f02a5"/>
    <ds:schemaRef ds:uri="http://schemas.openxmlformats.org/package/2006/metadata/core-properties"/>
    <ds:schemaRef ds:uri="http://schemas.microsoft.com/office/infopath/2007/PartnerControls"/>
    <ds:schemaRef ds:uri="http://schemas.microsoft.com/sharepoint/v3"/>
    <ds:schemaRef ds:uri="230e9df3-be65-4c73-a93b-d1236ebd677e"/>
    <ds:schemaRef ds:uri="16c05727-aa75-4e4a-9b5f-8a80a1165891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567F3CB5-3475-4129-AB60-D0C937DE910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Blue spheres presentation</Template>
  <TotalTime>80</TotalTime>
  <Words>570</Words>
  <Application>Microsoft Office PowerPoint</Application>
  <PresentationFormat>Widescreen</PresentationFormat>
  <Paragraphs>55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Wingdings</vt:lpstr>
      <vt:lpstr>Custom</vt:lpstr>
      <vt:lpstr>HORIZON</vt:lpstr>
      <vt:lpstr>PowerPoint Presentation</vt:lpstr>
      <vt:lpstr>PowerPoint Presentation</vt:lpstr>
      <vt:lpstr>Working Deployed Prototype</vt:lpstr>
      <vt:lpstr>Feasibility and Viability</vt:lpstr>
      <vt:lpstr>Marketing strategies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Sarthak Patil</dc:creator>
  <cp:lastModifiedBy>Sarthak Patil</cp:lastModifiedBy>
  <cp:revision>3</cp:revision>
  <dcterms:created xsi:type="dcterms:W3CDTF">2026-10-10T00:13:28Z</dcterms:created>
  <dcterms:modified xsi:type="dcterms:W3CDTF">2026-10-10T01:33:55Z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