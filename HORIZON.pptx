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79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Horizon: deterministic, human-supervised, cryptographically auditable infrastructure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HORIZON  ·  Sovereign Infrastructure Recovery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HORIZON  ·  Sovereign Infrastructure Recovery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HORIZON  ·  Sovereign Infrastructure Recovery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HORIZON  ·  Sovereign Infrastructure Recovery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ass card"/>
          <p:cNvSpPr/>
          <p:nvPr/>
        </p:nvSpPr>
        <p:spPr>
          <a:xfrm>
            <a:off x="457200" y="594360"/>
            <a:ext cx="5120640" cy="3977640"/>
          </a:xfrm>
          <a:prstGeom prst="snip2DiagRect">
            <a:avLst>
              <a:gd name="adj1" fmla="val 0"/>
              <a:gd name="adj2" fmla="val 2758"/>
            </a:avLst>
          </a:prstGeom>
          <a:solidFill>
            <a:schemeClr val="bg1">
              <a:alpha val="6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PATENT-BACKED  ·  MADE IN INDIA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34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0" kern="0" spc="10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HORIZON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Autonomous Enterprise Infrastructure Recovery Platform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PagerDuty plus an autopilot — built in India, with cryptographic proof of every action.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 ·  MST Blockchain</a:t>
            </a:r>
            <a:endParaRPr lang="en-US" sz="1050" dirty="0"/>
          </a:p>
        </p:txBody>
      </p:sp>
      <p:sp>
        <p:nvSpPr>
          <p:cNvPr id="8" name="Glass card"/>
          <p:cNvSpPr/>
          <p:nvPr/>
        </p:nvSpPr>
        <p:spPr>
          <a:xfrm>
            <a:off x="5760720" y="960120"/>
            <a:ext cx="2926080" cy="1005840"/>
          </a:xfrm>
          <a:prstGeom prst="snip2DiagRect">
            <a:avLst>
              <a:gd name="adj1" fmla="val 0"/>
              <a:gd name="adj2" fmla="val 109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Icon disc"/>
          <p:cNvSpPr/>
          <p:nvPr/>
        </p:nvSpPr>
        <p:spPr>
          <a:xfrm>
            <a:off x="5943600" y="1252728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FaProject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35331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92240" y="1216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DAG-ordered recovery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 topological sort</a:t>
            </a:r>
            <a:endParaRPr lang="en-US" sz="1200" dirty="0"/>
          </a:p>
        </p:txBody>
      </p:sp>
      <p:sp>
        <p:nvSpPr>
          <p:cNvPr id="13" name="Glass card"/>
          <p:cNvSpPr/>
          <p:nvPr/>
        </p:nvSpPr>
        <p:spPr>
          <a:xfrm>
            <a:off x="5760720" y="2240280"/>
            <a:ext cx="2926080" cy="1005840"/>
          </a:xfrm>
          <a:prstGeom prst="snip2DiagRect">
            <a:avLst>
              <a:gd name="adj1" fmla="val 0"/>
              <a:gd name="adj2" fmla="val 109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con disc"/>
          <p:cNvSpPr/>
          <p:nvPr/>
        </p:nvSpPr>
        <p:spPr>
          <a:xfrm>
            <a:off x="5943600" y="2532888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FaUser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6334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92240" y="2496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Human-signed approvals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wallet gates</a:t>
            </a:r>
            <a:endParaRPr lang="en-US" sz="1200" dirty="0"/>
          </a:p>
        </p:txBody>
      </p:sp>
      <p:sp>
        <p:nvSpPr>
          <p:cNvPr id="18" name="Glass card"/>
          <p:cNvSpPr/>
          <p:nvPr/>
        </p:nvSpPr>
        <p:spPr>
          <a:xfrm>
            <a:off x="5760720" y="3520440"/>
            <a:ext cx="2926080" cy="1005840"/>
          </a:xfrm>
          <a:prstGeom prst="snip2DiagRect">
            <a:avLst>
              <a:gd name="adj1" fmla="val 0"/>
              <a:gd name="adj2" fmla="val 109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 disc"/>
          <p:cNvSpPr/>
          <p:nvPr/>
        </p:nvSpPr>
        <p:spPr>
          <a:xfrm>
            <a:off x="5943600" y="3813048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6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FaLin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39136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92240" y="3776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Chain-anchored audit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4087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Merkle proofs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 ·  01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DISTRIBUTED SYSTEMS FAIL IN CHAINS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188720"/>
            <a:ext cx="3977640" cy="1600200"/>
          </a:xfrm>
          <a:prstGeom prst="snip2DiagRect">
            <a:avLst>
              <a:gd name="adj1" fmla="val 0"/>
              <a:gd name="adj2" fmla="val 6857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Icon disc"/>
          <p:cNvSpPr/>
          <p:nvPr/>
        </p:nvSpPr>
        <p:spPr>
          <a:xfrm>
            <a:off x="685800" y="1417320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5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FaBo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179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Problem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cascade. Manual, out-of-order restarts stretch costly downtime.</a:t>
            </a:r>
            <a:endParaRPr lang="en-US" sz="1400" dirty="0"/>
          </a:p>
        </p:txBody>
      </p:sp>
      <p:sp>
        <p:nvSpPr>
          <p:cNvPr id="9" name="Glass card"/>
          <p:cNvSpPr/>
          <p:nvPr/>
        </p:nvSpPr>
        <p:spPr>
          <a:xfrm>
            <a:off x="4709160" y="1188720"/>
            <a:ext cx="3977640" cy="1600200"/>
          </a:xfrm>
          <a:prstGeom prst="snip2DiagRect">
            <a:avLst>
              <a:gd name="adj1" fmla="val 0"/>
              <a:gd name="adj2" fmla="val 6857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Icon disc"/>
          <p:cNvSpPr/>
          <p:nvPr/>
        </p:nvSpPr>
        <p:spPr>
          <a:xfrm>
            <a:off x="4937760" y="1417320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FaLightbul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15179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Idea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19659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map dependencies and restore services in the mathematically correct order.</a:t>
            </a:r>
            <a:endParaRPr lang="en-US" sz="1400" dirty="0"/>
          </a:p>
        </p:txBody>
      </p:sp>
      <p:sp>
        <p:nvSpPr>
          <p:cNvPr id="14" name="Glass card"/>
          <p:cNvSpPr/>
          <p:nvPr/>
        </p:nvSpPr>
        <p:spPr>
          <a:xfrm>
            <a:off x="457200" y="2971800"/>
            <a:ext cx="3977640" cy="1600200"/>
          </a:xfrm>
          <a:prstGeom prst="snip2DiagRect">
            <a:avLst>
              <a:gd name="adj1" fmla="val 0"/>
              <a:gd name="adj2" fmla="val 6857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Icon disc"/>
          <p:cNvSpPr/>
          <p:nvPr/>
        </p:nvSpPr>
        <p:spPr>
          <a:xfrm>
            <a:off x="685800" y="3200400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6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FaSt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30098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USP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37490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recovery, human approval for risky actions, blockchain proof of every step.</a:t>
            </a:r>
            <a:endParaRPr lang="en-US" sz="1400" dirty="0"/>
          </a:p>
        </p:txBody>
      </p:sp>
      <p:sp>
        <p:nvSpPr>
          <p:cNvPr id="19" name="Glass card"/>
          <p:cNvSpPr/>
          <p:nvPr/>
        </p:nvSpPr>
        <p:spPr>
          <a:xfrm>
            <a:off x="4709160" y="2971800"/>
            <a:ext cx="3977640" cy="1600200"/>
          </a:xfrm>
          <a:prstGeom prst="snip2DiagRect">
            <a:avLst>
              <a:gd name="adj1" fmla="val 0"/>
              <a:gd name="adj2" fmla="val 6857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Icon disc"/>
          <p:cNvSpPr/>
          <p:nvPr/>
        </p:nvSpPr>
        <p:spPr>
          <a:xfrm>
            <a:off x="4937760" y="3200400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FaFlas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330098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3212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Innovation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37490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algorithms, multilingual AI and tamper-evident audit trails in one platform.</a:t>
            </a:r>
            <a:endParaRPr lang="en-US" sz="1400" dirty="0"/>
          </a:p>
        </p:txBody>
      </p:sp>
      <p:sp>
        <p:nvSpPr>
          <p:cNvPr id="24" name="Flow arrow"/>
          <p:cNvSpPr/>
          <p:nvPr/>
        </p:nvSpPr>
        <p:spPr>
          <a:xfrm>
            <a:off x="4462272" y="1888236"/>
            <a:ext cx="219456" cy="201168"/>
          </a:xfrm>
          <a:prstGeom prst="rightArrow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Flow arrow"/>
          <p:cNvSpPr/>
          <p:nvPr/>
        </p:nvSpPr>
        <p:spPr>
          <a:xfrm>
            <a:off x="4462272" y="3671316"/>
            <a:ext cx="219456" cy="201168"/>
          </a:xfrm>
          <a:prstGeom prst="rightArrow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  ·  02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BUILT FOR MISSION-CRITICAL TEAMS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188720"/>
            <a:ext cx="2606040" cy="1325880"/>
          </a:xfrm>
          <a:prstGeom prst="snip2DiagRect">
            <a:avLst>
              <a:gd name="adj1" fmla="val 0"/>
              <a:gd name="adj2" fmla="val 8275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Icon disc"/>
          <p:cNvSpPr/>
          <p:nvPr/>
        </p:nvSpPr>
        <p:spPr>
          <a:xfrm>
            <a:off x="640080" y="1353312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FaClo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4538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Cloud-native startups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teams, complex microservice graphs</a:t>
            </a:r>
            <a:endParaRPr lang="en-US" sz="1200" dirty="0"/>
          </a:p>
        </p:txBody>
      </p:sp>
      <p:sp>
        <p:nvSpPr>
          <p:cNvPr id="9" name="Glass card"/>
          <p:cNvSpPr/>
          <p:nvPr/>
        </p:nvSpPr>
        <p:spPr>
          <a:xfrm>
            <a:off x="3268980" y="1188720"/>
            <a:ext cx="2606040" cy="1325880"/>
          </a:xfrm>
          <a:prstGeom prst="snip2DiagRect">
            <a:avLst>
              <a:gd name="adj1" fmla="val 0"/>
              <a:gd name="adj2" fmla="val 8275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Icon disc"/>
          <p:cNvSpPr/>
          <p:nvPr/>
        </p:nvSpPr>
        <p:spPr>
          <a:xfrm>
            <a:off x="3451860" y="1353312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4538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186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SRE &amp; DevOps teams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518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outages, thin on-call rotations</a:t>
            </a:r>
            <a:endParaRPr lang="en-US" sz="1200" dirty="0"/>
          </a:p>
        </p:txBody>
      </p:sp>
      <p:sp>
        <p:nvSpPr>
          <p:cNvPr id="14" name="Glass card"/>
          <p:cNvSpPr/>
          <p:nvPr/>
        </p:nvSpPr>
        <p:spPr>
          <a:xfrm>
            <a:off x="6080760" y="1188720"/>
            <a:ext cx="2606040" cy="1325880"/>
          </a:xfrm>
          <a:prstGeom prst="snip2DiagRect">
            <a:avLst>
              <a:gd name="adj1" fmla="val 0"/>
              <a:gd name="adj2" fmla="val 8275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Icon disc"/>
          <p:cNvSpPr/>
          <p:nvPr/>
        </p:nvSpPr>
        <p:spPr>
          <a:xfrm>
            <a:off x="6263640" y="1353312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6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FaUnivers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45389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BFSI &amp; FinTech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accountability, CERT-In ready</a:t>
            </a:r>
            <a:endParaRPr lang="en-US" sz="1200" dirty="0"/>
          </a:p>
        </p:txBody>
      </p:sp>
      <p:sp>
        <p:nvSpPr>
          <p:cNvPr id="19" name="Glass card"/>
          <p:cNvSpPr/>
          <p:nvPr/>
        </p:nvSpPr>
        <p:spPr>
          <a:xfrm>
            <a:off x="457200" y="2606040"/>
            <a:ext cx="2606040" cy="1325880"/>
          </a:xfrm>
          <a:prstGeom prst="snip2DiagRect">
            <a:avLst>
              <a:gd name="adj1" fmla="val 0"/>
              <a:gd name="adj2" fmla="val 8275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Icon disc"/>
          <p:cNvSpPr/>
          <p:nvPr/>
        </p:nvSpPr>
        <p:spPr>
          <a:xfrm>
            <a:off x="640080" y="2770632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4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FaHeartbea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287121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008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HealthTech &amp; GovTech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locally adaptable operations</a:t>
            </a:r>
            <a:endParaRPr lang="en-US" sz="1200" dirty="0"/>
          </a:p>
        </p:txBody>
      </p:sp>
      <p:sp>
        <p:nvSpPr>
          <p:cNvPr id="24" name="Glass card"/>
          <p:cNvSpPr/>
          <p:nvPr/>
        </p:nvSpPr>
        <p:spPr>
          <a:xfrm>
            <a:off x="3268980" y="2606040"/>
            <a:ext cx="2606040" cy="1325880"/>
          </a:xfrm>
          <a:prstGeom prst="snip2DiagRect">
            <a:avLst>
              <a:gd name="adj1" fmla="val 0"/>
              <a:gd name="adj2" fmla="val 8275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Icon disc"/>
          <p:cNvSpPr/>
          <p:nvPr/>
        </p:nvSpPr>
        <p:spPr>
          <a:xfrm>
            <a:off x="3451860" y="2770632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5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FaShoppingC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287121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5186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E-commerce enterprises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345186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that costs revenue per minute</a:t>
            </a:r>
            <a:endParaRPr lang="en-US" sz="1200" dirty="0"/>
          </a:p>
        </p:txBody>
      </p:sp>
      <p:sp>
        <p:nvSpPr>
          <p:cNvPr id="29" name="Glass card"/>
          <p:cNvSpPr/>
          <p:nvPr/>
        </p:nvSpPr>
        <p:spPr>
          <a:xfrm>
            <a:off x="6080760" y="2606040"/>
            <a:ext cx="2606040" cy="1325880"/>
          </a:xfrm>
          <a:prstGeom prst="snip2DiagRect">
            <a:avLst>
              <a:gd name="adj1" fmla="val 0"/>
              <a:gd name="adj2" fmla="val 8275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Icon disc"/>
          <p:cNvSpPr/>
          <p:nvPr/>
        </p:nvSpPr>
        <p:spPr>
          <a:xfrm>
            <a:off x="6263640" y="2770632"/>
            <a:ext cx="420624" cy="420624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FaNetworkWir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287121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6364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Managed service providers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626364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clients, one governed recovery layer</a:t>
            </a:r>
            <a:endParaRPr lang="en-US" sz="1200" dirty="0"/>
          </a:p>
        </p:txBody>
      </p:sp>
      <p:sp>
        <p:nvSpPr>
          <p:cNvPr id="34" name="Glass card"/>
          <p:cNvSpPr/>
          <p:nvPr/>
        </p:nvSpPr>
        <p:spPr>
          <a:xfrm>
            <a:off x="457200" y="4114800"/>
            <a:ext cx="265176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 txBox="1"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Multilingual teams</a:t>
            </a:r>
            <a:endParaRPr lang="en-US" sz="1200" dirty="0"/>
          </a:p>
        </p:txBody>
      </p:sp>
      <p:sp>
        <p:nvSpPr>
          <p:cNvPr id="36" name="Glass card"/>
          <p:cNvSpPr/>
          <p:nvPr/>
        </p:nvSpPr>
        <p:spPr>
          <a:xfrm>
            <a:off x="3246120" y="4114800"/>
            <a:ext cx="265176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 txBox="1"/>
          <p:nvPr/>
        </p:nvSpPr>
        <p:spPr>
          <a:xfrm>
            <a:off x="32461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Local-language operations</a:t>
            </a:r>
            <a:endParaRPr lang="en-US" sz="1200" dirty="0"/>
          </a:p>
        </p:txBody>
      </p:sp>
      <p:sp>
        <p:nvSpPr>
          <p:cNvPr id="38" name="Glass card"/>
          <p:cNvSpPr/>
          <p:nvPr/>
        </p:nvSpPr>
        <p:spPr>
          <a:xfrm>
            <a:off x="6035040" y="4114800"/>
            <a:ext cx="265176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 txBox="1"/>
          <p:nvPr/>
        </p:nvSpPr>
        <p:spPr>
          <a:xfrm>
            <a:off x="603504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Regulated environments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 ·  03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FROM FAILURE TO PROOF, AUTOMATICALLY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188720"/>
            <a:ext cx="1463040" cy="1645920"/>
          </a:xfrm>
          <a:prstGeom prst="snip2DiagRect">
            <a:avLst>
              <a:gd name="adj1" fmla="val 0"/>
              <a:gd name="adj2" fmla="val 7500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32588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217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Detect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flag failures</a:t>
            </a:r>
            <a:endParaRPr lang="en-US" sz="1200" dirty="0"/>
          </a:p>
        </p:txBody>
      </p:sp>
      <p:sp>
        <p:nvSpPr>
          <p:cNvPr id="9" name="Flow chevron"/>
          <p:cNvSpPr/>
          <p:nvPr/>
        </p:nvSpPr>
        <p:spPr>
          <a:xfrm>
            <a:off x="1975104" y="1920240"/>
            <a:ext cx="109728" cy="201168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Glass card"/>
          <p:cNvSpPr/>
          <p:nvPr/>
        </p:nvSpPr>
        <p:spPr>
          <a:xfrm>
            <a:off x="2148840" y="1188720"/>
            <a:ext cx="1463040" cy="1645920"/>
          </a:xfrm>
          <a:prstGeom prst="snip2DiagRect">
            <a:avLst>
              <a:gd name="adj1" fmla="val 0"/>
              <a:gd name="adj2" fmla="val 7500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313432" y="132588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3134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13432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Map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313432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as a live DAG</a:t>
            </a:r>
            <a:endParaRPr lang="en-US" sz="1200" dirty="0"/>
          </a:p>
        </p:txBody>
      </p:sp>
      <p:sp>
        <p:nvSpPr>
          <p:cNvPr id="15" name="Flow chevron"/>
          <p:cNvSpPr/>
          <p:nvPr/>
        </p:nvSpPr>
        <p:spPr>
          <a:xfrm>
            <a:off x="3666744" y="1920240"/>
            <a:ext cx="109728" cy="201168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Glass card"/>
          <p:cNvSpPr/>
          <p:nvPr/>
        </p:nvSpPr>
        <p:spPr>
          <a:xfrm>
            <a:off x="3840480" y="1188720"/>
            <a:ext cx="1463040" cy="1645920"/>
          </a:xfrm>
          <a:prstGeom prst="snip2DiagRect">
            <a:avLst>
              <a:gd name="adj1" fmla="val 0"/>
              <a:gd name="adj2" fmla="val 7500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05072" y="132588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6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00507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Assess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005072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and cascade impact</a:t>
            </a:r>
            <a:endParaRPr lang="en-US" sz="1200" dirty="0"/>
          </a:p>
        </p:txBody>
      </p:sp>
      <p:sp>
        <p:nvSpPr>
          <p:cNvPr id="21" name="Flow chevron"/>
          <p:cNvSpPr/>
          <p:nvPr/>
        </p:nvSpPr>
        <p:spPr>
          <a:xfrm>
            <a:off x="5358384" y="1920240"/>
            <a:ext cx="109728" cy="201168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Glass card"/>
          <p:cNvSpPr/>
          <p:nvPr/>
        </p:nvSpPr>
        <p:spPr>
          <a:xfrm>
            <a:off x="5532120" y="1188720"/>
            <a:ext cx="1463040" cy="1645920"/>
          </a:xfrm>
          <a:prstGeom prst="snip2DiagRect">
            <a:avLst>
              <a:gd name="adj1" fmla="val 0"/>
              <a:gd name="adj2" fmla="val 7500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696712" y="132588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4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69671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96712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Recover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96712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Dependency-ordered playbooks</a:t>
            </a:r>
            <a:endParaRPr lang="en-US" sz="1200" dirty="0"/>
          </a:p>
        </p:txBody>
      </p:sp>
      <p:sp>
        <p:nvSpPr>
          <p:cNvPr id="27" name="Flow chevron"/>
          <p:cNvSpPr/>
          <p:nvPr/>
        </p:nvSpPr>
        <p:spPr>
          <a:xfrm>
            <a:off x="7050024" y="1920240"/>
            <a:ext cx="109728" cy="201168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Glass card"/>
          <p:cNvSpPr/>
          <p:nvPr/>
        </p:nvSpPr>
        <p:spPr>
          <a:xfrm>
            <a:off x="7223760" y="1188720"/>
            <a:ext cx="1463040" cy="1645920"/>
          </a:xfrm>
          <a:prstGeom prst="snip2DiagRect">
            <a:avLst>
              <a:gd name="adj1" fmla="val 0"/>
              <a:gd name="adj2" fmla="val 7500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388352" y="132588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5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38835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88352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Prove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388352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anchored on-chain</a:t>
            </a:r>
            <a:endParaRPr lang="en-US" sz="1200" dirty="0"/>
          </a:p>
        </p:txBody>
      </p:sp>
      <p:sp>
        <p:nvSpPr>
          <p:cNvPr id="33" name="Glass card"/>
          <p:cNvSpPr/>
          <p:nvPr/>
        </p:nvSpPr>
        <p:spPr>
          <a:xfrm>
            <a:off x="457200" y="3017520"/>
            <a:ext cx="3977640" cy="1600200"/>
          </a:xfrm>
          <a:prstGeom prst="snip2DiagRect">
            <a:avLst>
              <a:gd name="adj1" fmla="val 0"/>
              <a:gd name="adj2" fmla="val 6857"/>
            </a:avLst>
          </a:prstGeom>
          <a:solidFill>
            <a:schemeClr val="bg1">
              <a:alpha val="6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Icon disc"/>
          <p:cNvSpPr/>
          <p:nvPr/>
        </p:nvSpPr>
        <p:spPr>
          <a:xfrm>
            <a:off x="685800" y="3200400"/>
            <a:ext cx="45720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4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0" descr="Fa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300984"/>
            <a:ext cx="256032" cy="25603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2801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Autonomous</a:t>
            </a:r>
            <a:endParaRPr lang="en-US" sz="1800" dirty="0"/>
          </a:p>
        </p:txBody>
      </p:sp>
      <p:sp>
        <p:nvSpPr>
          <p:cNvPr id="37" name="Tag"/>
          <p:cNvSpPr/>
          <p:nvPr/>
        </p:nvSpPr>
        <p:spPr>
          <a:xfrm>
            <a:off x="3383280" y="3273552"/>
            <a:ext cx="868680" cy="310896"/>
          </a:xfrm>
          <a:prstGeom prst="snip2DiagRect">
            <a:avLst>
              <a:gd name="adj1" fmla="val 0"/>
              <a:gd name="adj2" fmla="val 2199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 txBox="1"/>
          <p:nvPr/>
        </p:nvSpPr>
        <p:spPr>
          <a:xfrm>
            <a:off x="3383280" y="32735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chemeClr val="bg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AUTO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3840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recovery actions execute on their own, instantly.</a:t>
            </a:r>
            <a:endParaRPr lang="en-US" sz="1400" dirty="0"/>
          </a:p>
        </p:txBody>
      </p:sp>
      <p:sp>
        <p:nvSpPr>
          <p:cNvPr id="40" name="Glass card"/>
          <p:cNvSpPr/>
          <p:nvPr/>
        </p:nvSpPr>
        <p:spPr>
          <a:xfrm>
            <a:off x="4709160" y="3017520"/>
            <a:ext cx="3977640" cy="1600200"/>
          </a:xfrm>
          <a:prstGeom prst="snip2DiagRect">
            <a:avLst>
              <a:gd name="adj1" fmla="val 0"/>
              <a:gd name="adj2" fmla="val 6857"/>
            </a:avLst>
          </a:prstGeom>
          <a:solidFill>
            <a:schemeClr val="bg1">
              <a:alpha val="6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Icon disc"/>
          <p:cNvSpPr/>
          <p:nvPr/>
        </p:nvSpPr>
        <p:spPr>
          <a:xfrm>
            <a:off x="4937760" y="3200400"/>
            <a:ext cx="45720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1" descr="FaK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300984"/>
            <a:ext cx="256032" cy="256032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55321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Human-authorized</a:t>
            </a:r>
            <a:endParaRPr lang="en-US" sz="1800" dirty="0"/>
          </a:p>
        </p:txBody>
      </p:sp>
      <p:sp>
        <p:nvSpPr>
          <p:cNvPr id="44" name="Tag"/>
          <p:cNvSpPr/>
          <p:nvPr/>
        </p:nvSpPr>
        <p:spPr>
          <a:xfrm>
            <a:off x="7635240" y="3273552"/>
            <a:ext cx="868680" cy="310896"/>
          </a:xfrm>
          <a:prstGeom prst="snip2DiagRect">
            <a:avLst>
              <a:gd name="adj1" fmla="val 0"/>
              <a:gd name="adj2" fmla="val 2199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 txBox="1"/>
          <p:nvPr/>
        </p:nvSpPr>
        <p:spPr>
          <a:xfrm>
            <a:off x="7635240" y="32735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chemeClr val="bg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SIGNED</a:t>
            </a:r>
            <a:endParaRPr 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4937760" y="3840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failovers and stateful changes require an EIP-712 wallet signature.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 ·  04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ONE RECOVERY PIPELINE, SEVEN STAGES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188720"/>
            <a:ext cx="1042416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66928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64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17904" y="1664208"/>
            <a:ext cx="91440" cy="182880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Glass card"/>
          <p:cNvSpPr/>
          <p:nvPr/>
        </p:nvSpPr>
        <p:spPr>
          <a:xfrm>
            <a:off x="1655064" y="1188720"/>
            <a:ext cx="1042416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764792" y="1298448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764792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64792" y="1664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15768" y="1664208"/>
            <a:ext cx="91440" cy="182880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Glass card"/>
          <p:cNvSpPr/>
          <p:nvPr/>
        </p:nvSpPr>
        <p:spPr>
          <a:xfrm>
            <a:off x="2852928" y="1188720"/>
            <a:ext cx="1042416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962656" y="1298448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2962656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1664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Dependency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13632" y="1664208"/>
            <a:ext cx="91440" cy="182880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Glass card"/>
          <p:cNvSpPr/>
          <p:nvPr/>
        </p:nvSpPr>
        <p:spPr>
          <a:xfrm>
            <a:off x="4050792" y="1188720"/>
            <a:ext cx="1042416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60520" y="1298448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16052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1664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AI SRE reasoning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11496" y="1664208"/>
            <a:ext cx="91440" cy="182880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Glass card"/>
          <p:cNvSpPr/>
          <p:nvPr/>
        </p:nvSpPr>
        <p:spPr>
          <a:xfrm>
            <a:off x="5248656" y="1188720"/>
            <a:ext cx="1042416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78000"/>
            </a:schemeClr>
          </a:solidFill>
          <a:ln w="22225">
            <a:solidFill>
              <a:schemeClr val="accent2"/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358384" y="1298448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358384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58384" y="1664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Governance gate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664208"/>
            <a:ext cx="91440" cy="182880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Glass card"/>
          <p:cNvSpPr/>
          <p:nvPr/>
        </p:nvSpPr>
        <p:spPr>
          <a:xfrm>
            <a:off x="6446520" y="1188720"/>
            <a:ext cx="1042416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56248" y="1298448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556248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56248" y="1664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Playbook execution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07224" y="1664208"/>
            <a:ext cx="91440" cy="182880"/>
          </a:xfrm>
          <a:prstGeom prst="chevron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Glass card"/>
          <p:cNvSpPr/>
          <p:nvPr/>
        </p:nvSpPr>
        <p:spPr>
          <a:xfrm>
            <a:off x="7644384" y="1188720"/>
            <a:ext cx="1042416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754112" y="1298448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754112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754112" y="1664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On-chain anchor</a:t>
            </a:r>
            <a:endParaRPr lang="en-US" sz="1100" dirty="0"/>
          </a:p>
        </p:txBody>
      </p:sp>
      <p:sp>
        <p:nvSpPr>
          <p:cNvPr id="38" name="Glass card"/>
          <p:cNvSpPr/>
          <p:nvPr/>
        </p:nvSpPr>
        <p:spPr>
          <a:xfrm>
            <a:off x="457200" y="2377440"/>
            <a:ext cx="8229600" cy="2240280"/>
          </a:xfrm>
          <a:prstGeom prst="snip2DiagRect">
            <a:avLst>
              <a:gd name="adj1" fmla="val 0"/>
              <a:gd name="adj2" fmla="val 4897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85800" y="2615184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8580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2560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Live DAG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3-miss probes confirm outages, no flapping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85800" y="3273552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6858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" y="32186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Blast radius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O(V+E) isolation of the downstream cascade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85800" y="3931920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6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6858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97280" y="38770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Topological order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→ Caches → APIs, no crash loops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709160" y="2615184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4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470916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120640" y="2560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Governed execution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heals auto; risky ones await a signature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4709160" y="3273552"/>
            <a:ext cx="274320" cy="27432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5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470916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120640" y="32186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Verify &amp; anchor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Health-gated unlock, Merkle proofs on-chain</a:t>
            </a:r>
            <a:endParaRPr lang="en-US" sz="1250" dirty="0"/>
          </a:p>
        </p:txBody>
      </p:sp>
      <p:sp>
        <p:nvSpPr>
          <p:cNvPr id="54" name="Glass card"/>
          <p:cNvSpPr/>
          <p:nvPr/>
        </p:nvSpPr>
        <p:spPr>
          <a:xfrm>
            <a:off x="4709160" y="3913632"/>
            <a:ext cx="3749040" cy="502920"/>
          </a:xfrm>
          <a:prstGeom prst="snip2DiagRect">
            <a:avLst>
              <a:gd name="adj1" fmla="val 0"/>
              <a:gd name="adj2" fmla="val 21818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 txBox="1"/>
          <p:nvPr/>
        </p:nvSpPr>
        <p:spPr>
          <a:xfrm>
            <a:off x="470916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LLM proposes  ·  Deterministic guardrails dispose</a:t>
            </a:r>
            <a:endParaRPr lang="en-US" sz="11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 ·  05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UI AND WIREFRAMES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097280"/>
            <a:ext cx="822960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40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INTERACTIVE PROTOTYPE  ·  5-DAY BUILD SPRINT</a:t>
            </a:r>
            <a:endParaRPr lang="en-US" sz="1300" dirty="0"/>
          </a:p>
        </p:txBody>
      </p:sp>
      <p:sp>
        <p:nvSpPr>
          <p:cNvPr id="6" name="Glass card"/>
          <p:cNvSpPr/>
          <p:nvPr/>
        </p:nvSpPr>
        <p:spPr>
          <a:xfrm>
            <a:off x="457200" y="1737360"/>
            <a:ext cx="4572000" cy="2880360"/>
          </a:xfrm>
          <a:prstGeom prst="snip2DiagRect">
            <a:avLst>
              <a:gd name="adj1" fmla="val 0"/>
              <a:gd name="adj2" fmla="val 38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Resilience Command Cent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847088"/>
            <a:ext cx="4297680" cy="2286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Resilience Command Center</a:t>
            </a:r>
            <a:endParaRPr lang="en-US" sz="1300" dirty="0"/>
          </a:p>
        </p:txBody>
      </p:sp>
      <p:sp>
        <p:nvSpPr>
          <p:cNvPr id="9" name="Glass card"/>
          <p:cNvSpPr/>
          <p:nvPr/>
        </p:nvSpPr>
        <p:spPr>
          <a:xfrm>
            <a:off x="5212080" y="1737360"/>
            <a:ext cx="3474720" cy="886968"/>
          </a:xfrm>
          <a:prstGeom prst="snip2DiagRect">
            <a:avLst>
              <a:gd name="adj1" fmla="val 0"/>
              <a:gd name="adj2" fmla="val 12371"/>
            </a:avLst>
          </a:prstGeom>
          <a:solidFill>
            <a:schemeClr val="bg1">
              <a:alpha val="6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Cryptographic Audit Vaul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03520" y="1828800"/>
            <a:ext cx="1463040" cy="731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12280" y="188366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Cryptographic Audit Vault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logs</a:t>
            </a:r>
            <a:endParaRPr lang="en-US" sz="1200" dirty="0"/>
          </a:p>
        </p:txBody>
      </p:sp>
      <p:sp>
        <p:nvSpPr>
          <p:cNvPr id="12" name="Glass card"/>
          <p:cNvSpPr/>
          <p:nvPr/>
        </p:nvSpPr>
        <p:spPr>
          <a:xfrm>
            <a:off x="5212080" y="2720340"/>
            <a:ext cx="3474720" cy="886968"/>
          </a:xfrm>
          <a:prstGeom prst="snip2DiagRect">
            <a:avLst>
              <a:gd name="adj1" fmla="val 0"/>
              <a:gd name="adj2" fmla="val 12371"/>
            </a:avLst>
          </a:prstGeom>
          <a:solidFill>
            <a:schemeClr val="bg1">
              <a:alpha val="6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Token-gated subscription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03520" y="2811780"/>
            <a:ext cx="1463040" cy="731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12280" y="28666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Token-gated subscriptions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plans on MST</a:t>
            </a:r>
            <a:endParaRPr lang="en-US" sz="1200" dirty="0"/>
          </a:p>
        </p:txBody>
      </p:sp>
      <p:sp>
        <p:nvSpPr>
          <p:cNvPr id="15" name="Glass card"/>
          <p:cNvSpPr/>
          <p:nvPr/>
        </p:nvSpPr>
        <p:spPr>
          <a:xfrm>
            <a:off x="5212080" y="3703320"/>
            <a:ext cx="3474720" cy="886968"/>
          </a:xfrm>
          <a:prstGeom prst="snip2DiagRect">
            <a:avLst>
              <a:gd name="adj1" fmla="val 0"/>
              <a:gd name="adj2" fmla="val 12371"/>
            </a:avLst>
          </a:prstGeom>
          <a:solidFill>
            <a:schemeClr val="bg1">
              <a:alpha val="6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MCP server referenc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03520" y="3794760"/>
            <a:ext cx="1463040" cy="731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384962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MCP server reference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AI agents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Viability  ·  06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FEASIBLE, FAST AND FUNDABLE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143000"/>
            <a:ext cx="1920240" cy="1005840"/>
          </a:xfrm>
          <a:prstGeom prst="snip2DiagRect">
            <a:avLst>
              <a:gd name="adj1" fmla="val 0"/>
              <a:gd name="adj2" fmla="val 109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&lt; 3 ms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node recovery plan</a:t>
            </a:r>
            <a:endParaRPr lang="en-US" sz="1200" dirty="0"/>
          </a:p>
        </p:txBody>
      </p:sp>
      <p:sp>
        <p:nvSpPr>
          <p:cNvPr id="7" name="Glass card"/>
          <p:cNvSpPr/>
          <p:nvPr/>
        </p:nvSpPr>
        <p:spPr>
          <a:xfrm>
            <a:off x="2560320" y="1143000"/>
            <a:ext cx="1920240" cy="1005840"/>
          </a:xfrm>
          <a:prstGeom prst="snip2DiagRect">
            <a:avLst>
              <a:gd name="adj1" fmla="val 0"/>
              <a:gd name="adj2" fmla="val 109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56032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6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down from 45 min</a:t>
            </a:r>
            <a:endParaRPr lang="en-US" sz="1200" dirty="0"/>
          </a:p>
        </p:txBody>
      </p:sp>
      <p:sp>
        <p:nvSpPr>
          <p:cNvPr id="10" name="Glass card"/>
          <p:cNvSpPr/>
          <p:nvPr/>
        </p:nvSpPr>
        <p:spPr>
          <a:xfrm>
            <a:off x="4663440" y="1143000"/>
            <a:ext cx="1920240" cy="1005840"/>
          </a:xfrm>
          <a:prstGeom prst="snip2DiagRect">
            <a:avLst>
              <a:gd name="adj1" fmla="val 0"/>
              <a:gd name="adj2" fmla="val 109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66344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data residency</a:t>
            </a:r>
            <a:endParaRPr lang="en-US" sz="1200" dirty="0"/>
          </a:p>
        </p:txBody>
      </p:sp>
      <p:sp>
        <p:nvSpPr>
          <p:cNvPr id="13" name="Glass card"/>
          <p:cNvSpPr/>
          <p:nvPr/>
        </p:nvSpPr>
        <p:spPr>
          <a:xfrm>
            <a:off x="6766560" y="1143000"/>
            <a:ext cx="1920240" cy="1005840"/>
          </a:xfrm>
          <a:prstGeom prst="snip2DiagRect">
            <a:avLst>
              <a:gd name="adj1" fmla="val 0"/>
              <a:gd name="adj2" fmla="val 10909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76656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&lt; ₹0.10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per on-chain anchor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TECHNICAL STRENGTHS</a:t>
            </a:r>
            <a:endParaRPr lang="en-US" sz="1100" dirty="0"/>
          </a:p>
        </p:txBody>
      </p:sp>
      <p:sp>
        <p:nvSpPr>
          <p:cNvPr id="17" name="Glass card"/>
          <p:cNvSpPr/>
          <p:nvPr/>
        </p:nvSpPr>
        <p:spPr>
          <a:xfrm>
            <a:off x="457200" y="2560320"/>
            <a:ext cx="2560320" cy="841248"/>
          </a:xfrm>
          <a:prstGeom prst="snip2DiagRect">
            <a:avLst>
              <a:gd name="adj1" fmla="val 0"/>
              <a:gd name="adj2" fmla="val 13043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21792" y="2651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Deterministic core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TypeScript, isolated from LLM hallucination</a:t>
            </a:r>
            <a:endParaRPr lang="en-US" sz="1200" dirty="0"/>
          </a:p>
        </p:txBody>
      </p:sp>
      <p:sp>
        <p:nvSpPr>
          <p:cNvPr id="20" name="Glass card"/>
          <p:cNvSpPr/>
          <p:nvPr/>
        </p:nvSpPr>
        <p:spPr>
          <a:xfrm>
            <a:off x="3291840" y="2560320"/>
            <a:ext cx="2560320" cy="841248"/>
          </a:xfrm>
          <a:prstGeom prst="snip2DiagRect">
            <a:avLst>
              <a:gd name="adj1" fmla="val 0"/>
              <a:gd name="adj2" fmla="val 13043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456432" y="2651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Native connectors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 and MCP IDE tools</a:t>
            </a:r>
            <a:endParaRPr lang="en-US" sz="1200" dirty="0"/>
          </a:p>
        </p:txBody>
      </p:sp>
      <p:sp>
        <p:nvSpPr>
          <p:cNvPr id="23" name="Glass card"/>
          <p:cNvSpPr/>
          <p:nvPr/>
        </p:nvSpPr>
        <p:spPr>
          <a:xfrm>
            <a:off x="6126480" y="2560320"/>
            <a:ext cx="2560320" cy="841248"/>
          </a:xfrm>
          <a:prstGeom prst="snip2DiagRect">
            <a:avLst>
              <a:gd name="adj1" fmla="val 0"/>
              <a:gd name="adj2" fmla="val 13043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291072" y="2651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Cycle &amp; flap resilient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cycle detection, sliding-window probes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GO-TO-MARKET ADVANTAGES</a:t>
            </a:r>
            <a:endParaRPr lang="en-US" sz="1100" dirty="0"/>
          </a:p>
        </p:txBody>
      </p:sp>
      <p:sp>
        <p:nvSpPr>
          <p:cNvPr id="27" name="Glass card"/>
          <p:cNvSpPr/>
          <p:nvPr/>
        </p:nvSpPr>
        <p:spPr>
          <a:xfrm>
            <a:off x="457200" y="3749040"/>
            <a:ext cx="2560320" cy="841248"/>
          </a:xfrm>
          <a:prstGeom prst="snip2DiagRect">
            <a:avLst>
              <a:gd name="adj1" fmla="val 0"/>
              <a:gd name="adj2" fmla="val 13043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21792" y="3840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Regulatory driver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CERT-In 6-hour reporting on-chain</a:t>
            </a:r>
            <a:endParaRPr lang="en-US" sz="1200" dirty="0"/>
          </a:p>
        </p:txBody>
      </p:sp>
      <p:sp>
        <p:nvSpPr>
          <p:cNvPr id="30" name="Glass card"/>
          <p:cNvSpPr/>
          <p:nvPr/>
        </p:nvSpPr>
        <p:spPr>
          <a:xfrm>
            <a:off x="3291840" y="3749040"/>
            <a:ext cx="2560320" cy="841248"/>
          </a:xfrm>
          <a:prstGeom prst="snip2DiagRect">
            <a:avLst>
              <a:gd name="adj1" fmla="val 0"/>
              <a:gd name="adj2" fmla="val 13043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3456432" y="3840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PLG flywheel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456432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@horizon/mcp-server inside Cursor and Claude</a:t>
            </a:r>
            <a:endParaRPr lang="en-US" sz="1200" dirty="0"/>
          </a:p>
        </p:txBody>
      </p:sp>
      <p:sp>
        <p:nvSpPr>
          <p:cNvPr id="33" name="Glass card"/>
          <p:cNvSpPr/>
          <p:nvPr/>
        </p:nvSpPr>
        <p:spPr>
          <a:xfrm>
            <a:off x="6126480" y="3749040"/>
            <a:ext cx="2560320" cy="841248"/>
          </a:xfrm>
          <a:prstGeom prst="snip2DiagRect">
            <a:avLst>
              <a:gd name="adj1" fmla="val 0"/>
              <a:gd name="adj2" fmla="val 13043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291072" y="3840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Sovereign pricing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plans remove USD forex volatility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 ·  07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OTHERS ALERT. HORIZON RECOVERS.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5669280" y="1051560"/>
            <a:ext cx="3017520" cy="3611880"/>
          </a:xfrm>
          <a:prstGeom prst="snip2DiagRect">
            <a:avLst>
              <a:gd name="adj1" fmla="val 0"/>
              <a:gd name="adj2" fmla="val 3636"/>
            </a:avLst>
          </a:prstGeom>
          <a:solidFill>
            <a:schemeClr val="accent1">
              <a:alpha val="16000"/>
            </a:schemeClr>
          </a:solidFill>
          <a:ln w="9525">
            <a:solidFill>
              <a:schemeClr val="bg1">
                <a:alpha val="8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115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1155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HORIZON</a:t>
            </a:r>
            <a:endParaRPr lang="en-US" sz="1100" dirty="0"/>
          </a:p>
        </p:txBody>
      </p:sp>
      <p:sp>
        <p:nvSpPr>
          <p:cNvPr id="8" name="Glass card"/>
          <p:cNvSpPr/>
          <p:nvPr/>
        </p:nvSpPr>
        <p:spPr>
          <a:xfrm>
            <a:off x="457200" y="1417320"/>
            <a:ext cx="5120640" cy="548640"/>
          </a:xfrm>
          <a:prstGeom prst="snip2DiagRect">
            <a:avLst>
              <a:gd name="adj1" fmla="val 0"/>
              <a:gd name="adj2" fmla="val 20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Datadog / Dynatrace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issues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VS</a:t>
            </a:r>
            <a:endParaRPr lang="en-US" sz="900" dirty="0"/>
          </a:p>
        </p:txBody>
      </p:sp>
      <p:sp>
        <p:nvSpPr>
          <p:cNvPr id="12" name="Glass card"/>
          <p:cNvSpPr/>
          <p:nvPr/>
        </p:nvSpPr>
        <p:spPr>
          <a:xfrm>
            <a:off x="5760720" y="1463040"/>
            <a:ext cx="283464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90000"/>
            </a:schemeClr>
          </a:solidFill>
          <a:ln w="9525">
            <a:solidFill>
              <a:schemeClr val="bg1">
                <a:alpha val="90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852160" y="1463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Actuates automated recovery</a:t>
            </a:r>
            <a:endParaRPr lang="en-US" sz="1250" dirty="0"/>
          </a:p>
        </p:txBody>
      </p:sp>
      <p:sp>
        <p:nvSpPr>
          <p:cNvPr id="14" name="Glass card"/>
          <p:cNvSpPr/>
          <p:nvPr/>
        </p:nvSpPr>
        <p:spPr>
          <a:xfrm>
            <a:off x="457200" y="2057400"/>
            <a:ext cx="5120640" cy="548640"/>
          </a:xfrm>
          <a:prstGeom prst="snip2DiagRect">
            <a:avLst>
              <a:gd name="adj1" fmla="val 0"/>
              <a:gd name="adj2" fmla="val 20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PagerDuty / Rootly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on-call humans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38928" y="2057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VS</a:t>
            </a:r>
            <a:endParaRPr lang="en-US" sz="900" dirty="0"/>
          </a:p>
        </p:txBody>
      </p:sp>
      <p:sp>
        <p:nvSpPr>
          <p:cNvPr id="18" name="Glass card"/>
          <p:cNvSpPr/>
          <p:nvPr/>
        </p:nvSpPr>
        <p:spPr>
          <a:xfrm>
            <a:off x="5760720" y="2103120"/>
            <a:ext cx="283464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90000"/>
            </a:schemeClr>
          </a:solidFill>
          <a:ln w="9525">
            <a:solidFill>
              <a:schemeClr val="bg1">
                <a:alpha val="90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852160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Resolves incidents autonomously</a:t>
            </a:r>
            <a:endParaRPr lang="en-US" sz="1250" dirty="0"/>
          </a:p>
        </p:txBody>
      </p:sp>
      <p:sp>
        <p:nvSpPr>
          <p:cNvPr id="20" name="Glass card"/>
          <p:cNvSpPr/>
          <p:nvPr/>
        </p:nvSpPr>
        <p:spPr>
          <a:xfrm>
            <a:off x="457200" y="2697480"/>
            <a:ext cx="5120640" cy="548640"/>
          </a:xfrm>
          <a:prstGeom prst="snip2DiagRect">
            <a:avLst>
              <a:gd name="adj1" fmla="val 0"/>
              <a:gd name="adj2" fmla="val 20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StackStorm / Rundeck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static scripts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38928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VS</a:t>
            </a:r>
            <a:endParaRPr lang="en-US" sz="900" dirty="0"/>
          </a:p>
        </p:txBody>
      </p:sp>
      <p:sp>
        <p:nvSpPr>
          <p:cNvPr id="24" name="Glass card"/>
          <p:cNvSpPr/>
          <p:nvPr/>
        </p:nvSpPr>
        <p:spPr>
          <a:xfrm>
            <a:off x="5760720" y="2743200"/>
            <a:ext cx="283464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90000"/>
            </a:schemeClr>
          </a:solidFill>
          <a:ln w="9525">
            <a:solidFill>
              <a:schemeClr val="bg1">
                <a:alpha val="90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852160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Derives dynamic DAG plans</a:t>
            </a:r>
            <a:endParaRPr lang="en-US" sz="1250" dirty="0"/>
          </a:p>
        </p:txBody>
      </p:sp>
      <p:sp>
        <p:nvSpPr>
          <p:cNvPr id="26" name="Glass card"/>
          <p:cNvSpPr/>
          <p:nvPr/>
        </p:nvSpPr>
        <p:spPr>
          <a:xfrm>
            <a:off x="457200" y="3337560"/>
            <a:ext cx="5120640" cy="548640"/>
          </a:xfrm>
          <a:prstGeom prst="snip2DiagRect">
            <a:avLst>
              <a:gd name="adj1" fmla="val 0"/>
              <a:gd name="adj2" fmla="val 20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0080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Generic LLM agents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 commands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138928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VS</a:t>
            </a:r>
            <a:endParaRPr lang="en-US" sz="900" dirty="0"/>
          </a:p>
        </p:txBody>
      </p:sp>
      <p:sp>
        <p:nvSpPr>
          <p:cNvPr id="30" name="Glass card"/>
          <p:cNvSpPr/>
          <p:nvPr/>
        </p:nvSpPr>
        <p:spPr>
          <a:xfrm>
            <a:off x="5760720" y="3383280"/>
            <a:ext cx="283464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90000"/>
            </a:schemeClr>
          </a:solidFill>
          <a:ln w="9525">
            <a:solidFill>
              <a:schemeClr val="bg1">
                <a:alpha val="90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85216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Enforces deterministic math</a:t>
            </a:r>
            <a:endParaRPr lang="en-US" sz="1250" dirty="0"/>
          </a:p>
        </p:txBody>
      </p:sp>
      <p:sp>
        <p:nvSpPr>
          <p:cNvPr id="32" name="Glass card"/>
          <p:cNvSpPr/>
          <p:nvPr/>
        </p:nvSpPr>
        <p:spPr>
          <a:xfrm>
            <a:off x="457200" y="3977640"/>
            <a:ext cx="5120640" cy="548640"/>
          </a:xfrm>
          <a:prstGeom prst="snip2DiagRect">
            <a:avLst>
              <a:gd name="adj1" fmla="val 0"/>
              <a:gd name="adj2" fmla="val 20000"/>
            </a:avLst>
          </a:prstGeom>
          <a:solidFill>
            <a:schemeClr val="bg1">
              <a:alpha val="5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4008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Prior art · US12556441B1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01752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mapping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138928" y="3977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VS</a:t>
            </a:r>
            <a:endParaRPr lang="en-US" sz="900" dirty="0"/>
          </a:p>
        </p:txBody>
      </p:sp>
      <p:sp>
        <p:nvSpPr>
          <p:cNvPr id="36" name="Glass card"/>
          <p:cNvSpPr/>
          <p:nvPr/>
        </p:nvSpPr>
        <p:spPr>
          <a:xfrm>
            <a:off x="5760720" y="4023360"/>
            <a:ext cx="283464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bg1">
              <a:alpha val="90000"/>
            </a:schemeClr>
          </a:solidFill>
          <a:ln w="9525">
            <a:solidFill>
              <a:schemeClr val="bg1">
                <a:alpha val="90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5852160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Re-plans dynamically on probe failures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 ·  08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143000"/>
            <a:ext cx="8229600" cy="914400"/>
          </a:xfrm>
          <a:prstGeom prst="snip2DiagRect">
            <a:avLst>
              <a:gd name="adj1" fmla="val 0"/>
              <a:gd name="adj2" fmla="val 12000"/>
            </a:avLst>
          </a:prstGeom>
          <a:solidFill>
            <a:schemeClr val="bg1">
              <a:alpha val="6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95%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82%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&lt; ₹12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per recovery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212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PRIMARY REVENUE</a:t>
            </a:r>
            <a:endParaRPr lang="en-US" sz="1100" dirty="0"/>
          </a:p>
        </p:txBody>
      </p:sp>
      <p:sp>
        <p:nvSpPr>
          <p:cNvPr id="12" name="Glass card"/>
          <p:cNvSpPr/>
          <p:nvPr/>
        </p:nvSpPr>
        <p:spPr>
          <a:xfrm>
            <a:off x="457200" y="2487168"/>
            <a:ext cx="2560320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Icon disc"/>
          <p:cNvSpPr/>
          <p:nvPr/>
        </p:nvSpPr>
        <p:spPr>
          <a:xfrm>
            <a:off x="594360" y="2615184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1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0" descr="FaLayerGro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15768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97280" y="26151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Tiered subscriptions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plans, ₹0 to ₹24,999/mo</a:t>
            </a:r>
            <a:endParaRPr lang="en-US" sz="1200" dirty="0"/>
          </a:p>
        </p:txBody>
      </p:sp>
      <p:sp>
        <p:nvSpPr>
          <p:cNvPr id="17" name="Glass card"/>
          <p:cNvSpPr/>
          <p:nvPr/>
        </p:nvSpPr>
        <p:spPr>
          <a:xfrm>
            <a:off x="3291840" y="2487168"/>
            <a:ext cx="2560320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Icon disc"/>
          <p:cNvSpPr/>
          <p:nvPr/>
        </p:nvSpPr>
        <p:spPr>
          <a:xfrm>
            <a:off x="3429000" y="2615184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FaBuil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715768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931920" y="26151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Enterprise licensing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dedicated and on-prem</a:t>
            </a:r>
            <a:endParaRPr lang="en-US" sz="1200" dirty="0"/>
          </a:p>
        </p:txBody>
      </p:sp>
      <p:sp>
        <p:nvSpPr>
          <p:cNvPr id="22" name="Glass card"/>
          <p:cNvSpPr/>
          <p:nvPr/>
        </p:nvSpPr>
        <p:spPr>
          <a:xfrm>
            <a:off x="6126480" y="2487168"/>
            <a:ext cx="2560320" cy="960120"/>
          </a:xfrm>
          <a:prstGeom prst="snip2DiagRect">
            <a:avLst>
              <a:gd name="adj1" fmla="val 0"/>
              <a:gd name="adj2" fmla="val 11428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Icon disc"/>
          <p:cNvSpPr/>
          <p:nvPr/>
        </p:nvSpPr>
        <p:spPr>
          <a:xfrm>
            <a:off x="6263640" y="2615184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6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2" descr="FaPlu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715768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766560" y="26151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API &amp; MCP access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62636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for developers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3584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NEXT-STAGE &amp; FUTURE</a:t>
            </a:r>
            <a:endParaRPr lang="en-US" sz="1100" dirty="0"/>
          </a:p>
        </p:txBody>
      </p:sp>
      <p:sp>
        <p:nvSpPr>
          <p:cNvPr id="28" name="Glass card"/>
          <p:cNvSpPr/>
          <p:nvPr/>
        </p:nvSpPr>
        <p:spPr>
          <a:xfrm>
            <a:off x="457200" y="3840480"/>
            <a:ext cx="2560320" cy="777240"/>
          </a:xfrm>
          <a:prstGeom prst="snip2DiagRect">
            <a:avLst>
              <a:gd name="adj1" fmla="val 0"/>
              <a:gd name="adj2" fmla="val 14117"/>
            </a:avLst>
          </a:prstGeom>
          <a:solidFill>
            <a:schemeClr val="bg1">
              <a:alpha val="5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Icon disc"/>
          <p:cNvSpPr/>
          <p:nvPr/>
        </p:nvSpPr>
        <p:spPr>
          <a:xfrm>
            <a:off x="585216" y="402336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FaB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23944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97280" y="3950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AI &amp; platform add-ons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Sarvam AI</a:t>
            </a:r>
            <a:endParaRPr lang="en-US" sz="1200" dirty="0"/>
          </a:p>
        </p:txBody>
      </p:sp>
      <p:sp>
        <p:nvSpPr>
          <p:cNvPr id="32" name="Glass card"/>
          <p:cNvSpPr/>
          <p:nvPr/>
        </p:nvSpPr>
        <p:spPr>
          <a:xfrm>
            <a:off x="3291840" y="3840480"/>
            <a:ext cx="2560320" cy="777240"/>
          </a:xfrm>
          <a:prstGeom prst="snip2DiagRect">
            <a:avLst>
              <a:gd name="adj1" fmla="val 0"/>
              <a:gd name="adj2" fmla="val 14117"/>
            </a:avLst>
          </a:prstGeom>
          <a:solidFill>
            <a:schemeClr val="bg1">
              <a:alpha val="5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Icon disc"/>
          <p:cNvSpPr/>
          <p:nvPr/>
        </p:nvSpPr>
        <p:spPr>
          <a:xfrm>
            <a:off x="3419856" y="402336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4" descr="FaCoin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4123944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931920" y="3950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Web3 subscriptions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Token-gated plans</a:t>
            </a:r>
            <a:endParaRPr lang="en-US" sz="1200" dirty="0"/>
          </a:p>
        </p:txBody>
      </p:sp>
      <p:sp>
        <p:nvSpPr>
          <p:cNvPr id="36" name="Glass card"/>
          <p:cNvSpPr/>
          <p:nvPr/>
        </p:nvSpPr>
        <p:spPr>
          <a:xfrm>
            <a:off x="6126480" y="3840480"/>
            <a:ext cx="2560320" cy="777240"/>
          </a:xfrm>
          <a:prstGeom prst="snip2DiagRect">
            <a:avLst>
              <a:gd name="adj1" fmla="val 0"/>
              <a:gd name="adj2" fmla="val 14117"/>
            </a:avLst>
          </a:prstGeom>
          <a:solidFill>
            <a:schemeClr val="bg1">
              <a:alpha val="5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Icon disc"/>
          <p:cNvSpPr/>
          <p:nvPr/>
        </p:nvSpPr>
        <p:spPr>
          <a:xfrm>
            <a:off x="6254496" y="4023360"/>
            <a:ext cx="384048" cy="384048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5" descr="FaSto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123944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766560" y="3950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Playbook marketplace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playbooks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 ·  09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VISION AND ROADMAP</a:t>
            </a:r>
            <a:endParaRPr lang="en-US" sz="2800" dirty="0"/>
          </a:p>
        </p:txBody>
      </p:sp>
      <p:sp>
        <p:nvSpPr>
          <p:cNvPr id="4" name="Glass card"/>
          <p:cNvSpPr/>
          <p:nvPr/>
        </p:nvSpPr>
        <p:spPr>
          <a:xfrm>
            <a:off x="457200" y="1188720"/>
            <a:ext cx="3291840" cy="3429000"/>
          </a:xfrm>
          <a:prstGeom prst="snip2DiagRect">
            <a:avLst>
              <a:gd name="adj1" fmla="val 0"/>
              <a:gd name="adj2" fmla="val 3333"/>
            </a:avLst>
          </a:prstGeom>
          <a:solidFill>
            <a:schemeClr val="bg1">
              <a:alpha val="58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Icon disc"/>
          <p:cNvSpPr/>
          <p:nvPr/>
        </p:nvSpPr>
        <p:spPr>
          <a:xfrm>
            <a:off x="685800" y="1371600"/>
            <a:ext cx="457200" cy="457200"/>
          </a:xfrm>
          <a:prstGeom prst="snip2DiagRect">
            <a:avLst>
              <a:gd name="adj1" fmla="val 0"/>
              <a:gd name="adj2" fmla="val 22000"/>
            </a:avLst>
          </a:prstGeom>
          <a:solidFill>
            <a:schemeClr val="accent2">
              <a:alpha val="92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FaShield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19202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India's sovereign resilience platform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Indian AI.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09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India-built blockchain.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47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Enterprise-grade engineering.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safer, more transparent recovery for every industry.</a:t>
            </a:r>
            <a:endParaRPr lang="en-US" sz="1200" dirty="0"/>
          </a:p>
        </p:txBody>
      </p:sp>
      <p:sp>
        <p:nvSpPr>
          <p:cNvPr id="12" name="Glass card"/>
          <p:cNvSpPr/>
          <p:nvPr/>
        </p:nvSpPr>
        <p:spPr>
          <a:xfrm>
            <a:off x="685800" y="4206240"/>
            <a:ext cx="2834640" cy="310896"/>
          </a:xfrm>
          <a:prstGeom prst="snip2DiagRect">
            <a:avLst>
              <a:gd name="adj1" fmla="val 0"/>
              <a:gd name="adj2" fmla="val 21999"/>
            </a:avLst>
          </a:prstGeom>
          <a:solidFill>
            <a:schemeClr val="bg1">
              <a:alpha val="25000"/>
            </a:schemeClr>
          </a:solidFill>
          <a:ln w="9525">
            <a:solidFill>
              <a:schemeClr val="bg1">
                <a:alpha val="80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85800" y="420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3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PATENT REGISTERED  ·  MADE IN INDIA</a:t>
            </a:r>
            <a:endParaRPr lang="en-US" sz="1000" dirty="0"/>
          </a:p>
        </p:txBody>
      </p:sp>
      <p:sp>
        <p:nvSpPr>
          <p:cNvPr id="14" name="Glass card"/>
          <p:cNvSpPr/>
          <p:nvPr/>
        </p:nvSpPr>
        <p:spPr>
          <a:xfrm>
            <a:off x="3931920" y="1188720"/>
            <a:ext cx="4754880" cy="1051560"/>
          </a:xfrm>
          <a:prstGeom prst="snip2DiagRect">
            <a:avLst>
              <a:gd name="adj1" fmla="val 0"/>
              <a:gd name="adj2" fmla="val 10434"/>
            </a:avLst>
          </a:prstGeom>
          <a:solidFill>
            <a:schemeClr val="bg1">
              <a:alpha val="66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114800" y="1298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4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NOW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wireframes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Recovery-engine architecture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governance design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registered</a:t>
            </a:r>
            <a:endParaRPr lang="en-US" sz="1250" dirty="0"/>
          </a:p>
        </p:txBody>
      </p:sp>
      <p:sp>
        <p:nvSpPr>
          <p:cNvPr id="17" name="Glass card"/>
          <p:cNvSpPr/>
          <p:nvPr/>
        </p:nvSpPr>
        <p:spPr>
          <a:xfrm>
            <a:off x="3931920" y="2359152"/>
            <a:ext cx="4754880" cy="1051560"/>
          </a:xfrm>
          <a:prstGeom prst="snip2DiagRect">
            <a:avLst>
              <a:gd name="adj1" fmla="val 0"/>
              <a:gd name="adj2" fmla="val 10434"/>
            </a:avLst>
          </a:prstGeom>
          <a:solidFill>
            <a:schemeClr val="bg1">
              <a:alpha val="54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4114800" y="2468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NEXT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24505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partners for early and mid-stage startups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Agentic-era product refinement</a:t>
            </a:r>
            <a:endParaRPr lang="en-US" sz="1250" dirty="0"/>
          </a:p>
        </p:txBody>
      </p:sp>
      <p:sp>
        <p:nvSpPr>
          <p:cNvPr id="20" name="Glass card"/>
          <p:cNvSpPr/>
          <p:nvPr/>
        </p:nvSpPr>
        <p:spPr>
          <a:xfrm>
            <a:off x="3931920" y="3529584"/>
            <a:ext cx="4754880" cy="1051560"/>
          </a:xfrm>
          <a:prstGeom prst="snip2DiagRect">
            <a:avLst>
              <a:gd name="adj1" fmla="val 0"/>
              <a:gd name="adj2" fmla="val 10434"/>
            </a:avLst>
          </a:prstGeom>
          <a:solidFill>
            <a:schemeClr val="bg1">
              <a:alpha val="42000"/>
            </a:schemeClr>
          </a:solidFill>
          <a:ln w="9525">
            <a:solidFill>
              <a:schemeClr val="bg1">
                <a:alpha val="75000"/>
              </a:schemeClr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4114800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6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LATER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62102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and on-prem deployments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playbook marketplace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resilience footprint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150" dirty="0">
                <a:solidFill>
                  <a:schemeClr val="tx1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FULL RECOVERY PIPELINE</a:t>
            </a:r>
            <a:endParaRPr lang="en-US" sz="2800" dirty="0"/>
          </a:p>
        </p:txBody>
      </p:sp>
      <p:sp>
        <p:nvSpPr>
          <p:cNvPr id="4" name="Diagram panel"/>
          <p:cNvSpPr/>
          <p:nvPr/>
        </p:nvSpPr>
        <p:spPr>
          <a:xfrm>
            <a:off x="2194560" y="1188720"/>
            <a:ext cx="4754880" cy="3429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2032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Seven-stage autonomous SRE recovery pipeline with governance gateway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0" y="1234440"/>
            <a:ext cx="4572000" cy="3337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rizon Glass">
  <a:themeElements>
    <a:clrScheme name="Horizon Glass">
      <a:dk1>
        <a:srgbClr val="12185C"/>
      </a:dk1>
      <a:lt1>
        <a:srgbClr val="FFFFFF"/>
      </a:lt1>
      <a:dk2>
        <a:srgbClr val="2A3568"/>
      </a:dk2>
      <a:lt2>
        <a:srgbClr val="E6EBFA"/>
      </a:lt2>
      <a:accent1>
        <a:srgbClr val="0E7490"/>
      </a:accent1>
      <a:accent2>
        <a:srgbClr val="7C3AED"/>
      </a:accent2>
      <a:accent3>
        <a:srgbClr val="EA580C"/>
      </a:accent3>
      <a:accent4>
        <a:srgbClr val="059669"/>
      </a:accent4>
      <a:accent5>
        <a:srgbClr val="DB2777"/>
      </a:accent5>
      <a:accent6>
        <a:srgbClr val="2563EB"/>
      </a:accent6>
      <a:hlink>
        <a:srgbClr val="FFFFFF"/>
      </a:hlink>
      <a:folHlink>
        <a:srgbClr val="A78BFA"/>
      </a:folHlink>
    </a:clrScheme>
    <a:fontScheme name="Horizon Glass">
      <a:majorFont>
        <a:latin typeface="Chakra Petch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700</Words>
  <Application>Microsoft Office PowerPoint</Application>
  <PresentationFormat>On-screen Show (16:9)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Chakra Petch</vt:lpstr>
      <vt:lpstr>Horizon Glass</vt:lpstr>
      <vt:lpstr>PowerPoint Presentation</vt:lpstr>
      <vt:lpstr>DISTRIBUTED SYSTEMS FAIL IN CHAINS</vt:lpstr>
      <vt:lpstr>BUILT FOR MISSION-CRITICAL TEAMS</vt:lpstr>
      <vt:lpstr>FROM FAILURE TO PROOF, AUTOMATICALLY</vt:lpstr>
      <vt:lpstr>ONE RECOVERY PIPELINE, SEVEN STAGES</vt:lpstr>
      <vt:lpstr>UI AND WIREFRAMES</vt:lpstr>
      <vt:lpstr>FEASIBLE, FAST AND FUNDABLE</vt:lpstr>
      <vt:lpstr>OTHERS ALERT. HORIZON RECOVERS.</vt:lpstr>
      <vt:lpstr>BUSINESS MODEL</vt:lpstr>
      <vt:lpstr>VISION AND ROADMAP</vt:lpstr>
      <vt:lpstr>FULL RECOVERY PIPELINE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</dc:title>
  <dc:subject>PptxGenJS Presentation</dc:subject>
  <dc:creator>Horizon</dc:creator>
  <cp:lastModifiedBy>Sarthak Patil</cp:lastModifiedBy>
  <cp:revision>3</cp:revision>
  <dcterms:created xsi:type="dcterms:W3CDTF">2026-10-25T11:14:31Z</dcterms:created>
  <dcterms:modified xsi:type="dcterms:W3CDTF">2026-10-25T11:26:21Z</dcterms:modified>
</cp:coreProperties>
</file>